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8" r:id="rId18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9" r:id="rId23"/>
    <p:sldId id="270" r:id="rId24"/>
    <p:sldId id="267" r:id="rId17"/>
    <p:sldId id="266" r:id="rId16"/>
  </p:sldIdLst>
  <p:sldSz cy="6858000" cx="12191675"/>
  <p:notesSz cx="6858000" cy="9144000"/>
  <p:embeddedFontLst>
    <p:embeddedFont>
      <p:font typeface="Quattrocento Sans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font" Target="fonts/QuattrocentoSans-regular.fntdata"/><Relationship Id="rId20" Type="http://schemas.openxmlformats.org/officeDocument/2006/relationships/font" Target="fonts/QuattrocentoSans-bold.fntdata"/><Relationship Id="rId21" Type="http://schemas.openxmlformats.org/officeDocument/2006/relationships/font" Target="fonts/QuattrocentoSans-italic.fntdata"/><Relationship Id="rId22" Type="http://schemas.openxmlformats.org/officeDocument/2006/relationships/font" Target="fonts/QuattrocentoSans-boldItalic.fntdata"/><Relationship Id="rId23" Type="http://schemas.openxmlformats.org/officeDocument/2006/relationships/slide" Target="slides/slide14.xml"/><Relationship Id="rId24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0B17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822960" y="960120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822960" y="1005840"/>
            <a:ext cx="10058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7EC8E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DATABRICKS  ·  DAIICHI SANKYO  ·  ONCOLOGY MEDICAL AFFAIRS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777240" y="1737360"/>
            <a:ext cx="10515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</a:t>
            </a:r>
            <a:endParaRPr/>
          </a:p>
          <a:p>
            <a:pPr indent="0" lvl="0" marL="0" marR="0" rtl="0" algn="l">
              <a:lnSpc>
                <a:spcPct val="9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Analytics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822960" y="3794760"/>
            <a:ext cx="9875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CED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unified, governed intelligence layer for Daiichi Sankyo oncology Medical Affairs — raw engagement signals flow through Lakeflow into one Unity Catalog 360° view, served operationally via Lakebase, made intelligent with Gen AI, queryable in Genie, and surfaced to MSLs in a Databricks App.</a:t>
            </a:r>
            <a:endParaRPr/>
          </a:p>
        </p:txBody>
      </p:sp>
      <p:sp>
        <p:nvSpPr>
          <p:cNvPr id="90" name="Google Shape;90;p13"/>
          <p:cNvSpPr/>
          <p:nvPr/>
        </p:nvSpPr>
        <p:spPr>
          <a:xfrm>
            <a:off x="822960" y="5074920"/>
            <a:ext cx="2331720" cy="310896"/>
          </a:xfrm>
          <a:prstGeom prst="roundRect">
            <a:avLst>
              <a:gd fmla="val 16667" name="adj"/>
            </a:avLst>
          </a:prstGeom>
          <a:solidFill>
            <a:srgbClr val="1224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822960" y="5074920"/>
            <a:ext cx="2331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Lakeflow → Unity Catalog</a:t>
            </a:r>
            <a:endParaRPr/>
          </a:p>
        </p:txBody>
      </p:sp>
      <p:sp>
        <p:nvSpPr>
          <p:cNvPr id="92" name="Google Shape;92;p13"/>
          <p:cNvSpPr/>
          <p:nvPr/>
        </p:nvSpPr>
        <p:spPr>
          <a:xfrm>
            <a:off x="3291840" y="5074920"/>
            <a:ext cx="1645920" cy="310896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291840" y="5074920"/>
            <a:ext cx="1645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Lakebase serving</a:t>
            </a:r>
            <a:endParaRPr/>
          </a:p>
        </p:txBody>
      </p:sp>
      <p:sp>
        <p:nvSpPr>
          <p:cNvPr id="94" name="Google Shape;94;p13"/>
          <p:cNvSpPr/>
          <p:nvPr/>
        </p:nvSpPr>
        <p:spPr>
          <a:xfrm>
            <a:off x="5074920" y="5074920"/>
            <a:ext cx="1828800" cy="310896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5074920" y="5074920"/>
            <a:ext cx="1828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Genie + AI/BI</a:t>
            </a:r>
            <a:endParaRPr/>
          </a:p>
        </p:txBody>
      </p:sp>
      <p:sp>
        <p:nvSpPr>
          <p:cNvPr id="96" name="Google Shape;96;p13"/>
          <p:cNvSpPr/>
          <p:nvPr/>
        </p:nvSpPr>
        <p:spPr>
          <a:xfrm>
            <a:off x="7040880" y="5074920"/>
            <a:ext cx="2331720" cy="310896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7040880" y="5074920"/>
            <a:ext cx="23317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Databricks App (Copilot)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756350" y="6267600"/>
            <a:ext cx="10515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Srihari Aravindakshan, Solutions Architect</a:t>
            </a:r>
            <a:br>
              <a:rPr b="1" lang="en-US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endParaRPr b="1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BUSINESS CHALLENGE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Affairs signal is real — but it's scattered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03</a:t>
            </a:r>
            <a:endParaRPr/>
          </a:p>
        </p:txBody>
      </p:sp>
      <p:sp>
        <p:nvSpPr>
          <p:cNvPr id="107" name="Google Shape;107;p14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Daiichi Sankyo's MSLs engage the most influential oncology KOLs for Enhertu and Datroway — but the evidence of what a KOL actually cares about lives in disconnected systems, so follow-ups slip, medical inquiries age past SLA, and high-value KOLs go under-served.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48640" y="2194560"/>
            <a:ext cx="5394960" cy="1920240"/>
          </a:xfrm>
          <a:prstGeom prst="roundRect">
            <a:avLst>
              <a:gd fmla="val 16667" name="adj"/>
            </a:avLst>
          </a:prstGeom>
          <a:solidFill>
            <a:srgbClr val="FFF3D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/>
          <p:nvPr/>
        </p:nvSpPr>
        <p:spPr>
          <a:xfrm>
            <a:off x="548640" y="2194560"/>
            <a:ext cx="128016" cy="1920240"/>
          </a:xfrm>
          <a:prstGeom prst="roundRect">
            <a:avLst>
              <a:gd fmla="val 16667" name="adj"/>
            </a:avLst>
          </a:prstGeom>
          <a:solidFill>
            <a:srgbClr val="D982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914400" y="2450592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Fragmented channels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914400" y="2980944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MSL notes, medical inquiries, congress activity, digital engagement, publications &amp; trials all live apart — no single HCP view.</a:t>
            </a:r>
            <a:endParaRPr/>
          </a:p>
        </p:txBody>
      </p:sp>
      <p:sp>
        <p:nvSpPr>
          <p:cNvPr id="113" name="Google Shape;113;p14"/>
          <p:cNvSpPr/>
          <p:nvPr/>
        </p:nvSpPr>
        <p:spPr>
          <a:xfrm>
            <a:off x="6245352" y="2194560"/>
            <a:ext cx="5394960" cy="1920240"/>
          </a:xfrm>
          <a:prstGeom prst="roundRect">
            <a:avLst>
              <a:gd fmla="val 16667" name="adj"/>
            </a:avLst>
          </a:prstGeom>
          <a:solidFill>
            <a:srgbClr val="EEE5F8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6245352" y="2194560"/>
            <a:ext cx="128016" cy="1920240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6611112" y="2450592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Insight trapped in free text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6611112" y="2980944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richest signal — scientific interest, unmet information needs, sentiment — sits in unstructured MSL interaction notes.</a:t>
            </a: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548640" y="4297680"/>
            <a:ext cx="5394960" cy="1920240"/>
          </a:xfrm>
          <a:prstGeom prst="roundRect">
            <a:avLst>
              <a:gd fmla="val 16667" name="adj"/>
            </a:avLst>
          </a:prstGeom>
          <a:solidFill>
            <a:srgbClr val="E4EC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/>
          <p:nvPr/>
        </p:nvSpPr>
        <p:spPr>
          <a:xfrm>
            <a:off x="548640" y="4297680"/>
            <a:ext cx="128016" cy="1920240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 txBox="1"/>
          <p:nvPr/>
        </p:nvSpPr>
        <p:spPr>
          <a:xfrm>
            <a:off x="914400" y="4553712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Reactive, manual prep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914400" y="5084064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MSLs spend hours assembling context before each engagement; prioritization is gut-feel, not data-driven.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6245352" y="4297680"/>
            <a:ext cx="5394960" cy="1920240"/>
          </a:xfrm>
          <a:prstGeom prst="roundRect">
            <a:avLst>
              <a:gd fmla="val 16667" name="adj"/>
            </a:avLst>
          </a:prstGeom>
          <a:solidFill>
            <a:srgbClr val="DEF5E7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4"/>
          <p:cNvSpPr/>
          <p:nvPr/>
        </p:nvSpPr>
        <p:spPr>
          <a:xfrm>
            <a:off x="6245352" y="4297680"/>
            <a:ext cx="128016" cy="1920240"/>
          </a:xfrm>
          <a:prstGeom prst="roundRect">
            <a:avLst>
              <a:gd fmla="val 16667" name="adj"/>
            </a:avLst>
          </a:prstGeom>
          <a:solidFill>
            <a:srgbClr val="1F9D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4"/>
          <p:cNvSpPr txBox="1"/>
          <p:nvPr/>
        </p:nvSpPr>
        <p:spPr>
          <a:xfrm>
            <a:off x="6611112" y="4553712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Governance is non-negotiable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6611112" y="5084064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Affairs is non-promotional and regulated — every shared asset must be medically approved and human-reviewed.</a:t>
            </a:r>
            <a:endParaRPr/>
          </a:p>
        </p:txBody>
      </p:sp>
      <p:sp>
        <p:nvSpPr>
          <p:cNvPr id="125" name="Google Shape;125;p14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5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WHAT WE BUILT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governed platform — raw files to MSL action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04</a:t>
            </a:r>
            <a:endParaRPr/>
          </a:p>
        </p:txBody>
      </p:sp>
      <p:sp>
        <p:nvSpPr>
          <p:cNvPr id="134" name="Google Shape;134;p15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5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Everything runs on the Databricks Data Intelligence Platform on one governed Unity Catalog schema (_sa701.moa). A Lakeflow medallion pipeline feeds Gold tables that power Genie, an AI/BI dashboard, a Lakebase-served MSL cockpit, and the Copilot app — no data copies, one security model.</a:t>
            </a:r>
            <a:endParaRPr/>
          </a:p>
        </p:txBody>
      </p:sp>
      <p:sp>
        <p:nvSpPr>
          <p:cNvPr id="136" name="Google Shape;136;p15"/>
          <p:cNvSpPr/>
          <p:nvPr/>
        </p:nvSpPr>
        <p:spPr>
          <a:xfrm>
            <a:off x="548640" y="2240280"/>
            <a:ext cx="2670048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5"/>
          <p:cNvSpPr/>
          <p:nvPr/>
        </p:nvSpPr>
        <p:spPr>
          <a:xfrm>
            <a:off x="548640" y="2240280"/>
            <a:ext cx="2670048" cy="640080"/>
          </a:xfrm>
          <a:prstGeom prst="roundRect">
            <a:avLst>
              <a:gd fmla="val 16667" name="adj"/>
            </a:avLst>
          </a:prstGeom>
          <a:solidFill>
            <a:srgbClr val="1224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5"/>
          <p:cNvSpPr/>
          <p:nvPr/>
        </p:nvSpPr>
        <p:spPr>
          <a:xfrm>
            <a:off x="548640" y="2560320"/>
            <a:ext cx="2670048" cy="320040"/>
          </a:xfrm>
          <a:prstGeom prst="rect">
            <a:avLst/>
          </a:prstGeom>
          <a:solidFill>
            <a:srgbClr val="1224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5"/>
          <p:cNvSpPr txBox="1"/>
          <p:nvPr/>
        </p:nvSpPr>
        <p:spPr>
          <a:xfrm>
            <a:off x="548640" y="2286000"/>
            <a:ext cx="26700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🗄️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749808" y="3063240"/>
            <a:ext cx="22677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Governed data layer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768096" y="3840480"/>
            <a:ext cx="223113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Lakeflow medallion in Unity Catalog: 31 Delta tables across bronze, silver &amp; gold, plus governed metric views and a Lakebase operational serving layer.</a:t>
            </a:r>
            <a:endParaRPr/>
          </a:p>
        </p:txBody>
      </p:sp>
      <p:sp>
        <p:nvSpPr>
          <p:cNvPr id="142" name="Google Shape;142;p15"/>
          <p:cNvSpPr/>
          <p:nvPr/>
        </p:nvSpPr>
        <p:spPr>
          <a:xfrm>
            <a:off x="3355848" y="2240280"/>
            <a:ext cx="2670048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5"/>
          <p:cNvSpPr/>
          <p:nvPr/>
        </p:nvSpPr>
        <p:spPr>
          <a:xfrm>
            <a:off x="3355848" y="2240280"/>
            <a:ext cx="2670048" cy="640080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5"/>
          <p:cNvSpPr/>
          <p:nvPr/>
        </p:nvSpPr>
        <p:spPr>
          <a:xfrm>
            <a:off x="3355848" y="2560320"/>
            <a:ext cx="2670048" cy="320040"/>
          </a:xfrm>
          <a:prstGeom prst="rect">
            <a:avLst/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5"/>
          <p:cNvSpPr txBox="1"/>
          <p:nvPr/>
        </p:nvSpPr>
        <p:spPr>
          <a:xfrm>
            <a:off x="3355848" y="2286000"/>
            <a:ext cx="26700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</a:t>
            </a:r>
            <a:endParaRPr/>
          </a:p>
        </p:txBody>
      </p:sp>
      <p:sp>
        <p:nvSpPr>
          <p:cNvPr id="146" name="Google Shape;146;p15"/>
          <p:cNvSpPr txBox="1"/>
          <p:nvPr/>
        </p:nvSpPr>
        <p:spPr>
          <a:xfrm>
            <a:off x="3557016" y="3063240"/>
            <a:ext cx="22677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Genie space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3575304" y="3840480"/>
            <a:ext cx="2231100" cy="10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Natural-language analytics — business users ask questions in plain English and get governed answers, no dashboards required.</a:t>
            </a:r>
            <a:endParaRPr/>
          </a:p>
        </p:txBody>
      </p:sp>
      <p:sp>
        <p:nvSpPr>
          <p:cNvPr id="148" name="Google Shape;148;p15"/>
          <p:cNvSpPr/>
          <p:nvPr/>
        </p:nvSpPr>
        <p:spPr>
          <a:xfrm>
            <a:off x="6163056" y="2240280"/>
            <a:ext cx="2670048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5"/>
          <p:cNvSpPr/>
          <p:nvPr/>
        </p:nvSpPr>
        <p:spPr>
          <a:xfrm>
            <a:off x="6163056" y="2240280"/>
            <a:ext cx="2670048" cy="640080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5"/>
          <p:cNvSpPr/>
          <p:nvPr/>
        </p:nvSpPr>
        <p:spPr>
          <a:xfrm>
            <a:off x="6163056" y="2560320"/>
            <a:ext cx="2670048" cy="320040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5"/>
          <p:cNvSpPr txBox="1"/>
          <p:nvPr/>
        </p:nvSpPr>
        <p:spPr>
          <a:xfrm>
            <a:off x="6163056" y="2286000"/>
            <a:ext cx="26700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📊</a:t>
            </a:r>
            <a:endParaRPr/>
          </a:p>
        </p:txBody>
      </p:sp>
      <p:sp>
        <p:nvSpPr>
          <p:cNvPr id="152" name="Google Shape;152;p15"/>
          <p:cNvSpPr txBox="1"/>
          <p:nvPr/>
        </p:nvSpPr>
        <p:spPr>
          <a:xfrm>
            <a:off x="6364224" y="3063240"/>
            <a:ext cx="22677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AI/BI dashboard</a:t>
            </a:r>
            <a:endParaRPr/>
          </a:p>
        </p:txBody>
      </p:sp>
      <p:sp>
        <p:nvSpPr>
          <p:cNvPr id="153" name="Google Shape;153;p15"/>
          <p:cNvSpPr txBox="1"/>
          <p:nvPr/>
        </p:nvSpPr>
        <p:spPr>
          <a:xfrm>
            <a:off x="6382512" y="3840480"/>
            <a:ext cx="223113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Curated omnichannel view: engagement, territory opportunity, topic interest, inquiry SLAs — built on the same governed metrics.</a:t>
            </a:r>
            <a:endParaRPr/>
          </a:p>
        </p:txBody>
      </p:sp>
      <p:sp>
        <p:nvSpPr>
          <p:cNvPr id="154" name="Google Shape;154;p15"/>
          <p:cNvSpPr/>
          <p:nvPr/>
        </p:nvSpPr>
        <p:spPr>
          <a:xfrm>
            <a:off x="8970264" y="2240280"/>
            <a:ext cx="2670048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5"/>
          <p:cNvSpPr/>
          <p:nvPr/>
        </p:nvSpPr>
        <p:spPr>
          <a:xfrm>
            <a:off x="8970264" y="2240280"/>
            <a:ext cx="2670048" cy="640080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5"/>
          <p:cNvSpPr/>
          <p:nvPr/>
        </p:nvSpPr>
        <p:spPr>
          <a:xfrm>
            <a:off x="8970264" y="2560320"/>
            <a:ext cx="2670048" cy="3200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5"/>
          <p:cNvSpPr txBox="1"/>
          <p:nvPr/>
        </p:nvSpPr>
        <p:spPr>
          <a:xfrm>
            <a:off x="8970264" y="2286000"/>
            <a:ext cx="26700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🧬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9171432" y="3063240"/>
            <a:ext cx="22677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Engagement Copilot</a:t>
            </a:r>
            <a:endParaRPr/>
          </a:p>
        </p:txBody>
      </p:sp>
      <p:sp>
        <p:nvSpPr>
          <p:cNvPr id="159" name="Google Shape;159;p15"/>
          <p:cNvSpPr txBox="1"/>
          <p:nvPr/>
        </p:nvSpPr>
        <p:spPr>
          <a:xfrm>
            <a:off x="9189720" y="3840480"/>
            <a:ext cx="223113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Databricks App that produces an AI pre-engagement briefing + suggested plan for a selected HCP — for MSL review.</a:t>
            </a:r>
            <a:endParaRPr/>
          </a:p>
        </p:txBody>
      </p:sp>
      <p:sp>
        <p:nvSpPr>
          <p:cNvPr id="160" name="Google Shape;160;p15"/>
          <p:cNvSpPr txBox="1"/>
          <p:nvPr/>
        </p:nvSpPr>
        <p:spPr>
          <a:xfrm>
            <a:off x="548640" y="5715000"/>
            <a:ext cx="110643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Shared foundation:  Lakeflow · Unity Catalog governance · Delta Lake · Lakebase (PostgreSQL) · Databricks-hosted LLM via ai_query() · serverless SQL</a:t>
            </a:r>
            <a:endParaRPr/>
          </a:p>
        </p:txBody>
      </p:sp>
      <p:sp>
        <p:nvSpPr>
          <p:cNvPr id="161" name="Google Shape;161;p15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6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6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ARCHITECTURE</a:t>
            </a:r>
            <a:endParaRPr/>
          </a:p>
        </p:txBody>
      </p:sp>
      <p:sp>
        <p:nvSpPr>
          <p:cNvPr id="168" name="Google Shape;168;p16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End-to-end data flow — source to decision</a:t>
            </a:r>
            <a:endParaRPr/>
          </a:p>
        </p:txBody>
      </p:sp>
      <p:sp>
        <p:nvSpPr>
          <p:cNvPr id="169" name="Google Shape;169;p16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05</a:t>
            </a:r>
            <a:endParaRPr/>
          </a:p>
        </p:txBody>
      </p:sp>
      <p:sp>
        <p:nvSpPr>
          <p:cNvPr id="170" name="Google Shape;170;p16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6"/>
          <p:cNvSpPr/>
          <p:nvPr/>
        </p:nvSpPr>
        <p:spPr>
          <a:xfrm>
            <a:off x="548650" y="1600200"/>
            <a:ext cx="2148900" cy="1616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6"/>
          <p:cNvSpPr/>
          <p:nvPr/>
        </p:nvSpPr>
        <p:spPr>
          <a:xfrm>
            <a:off x="548650" y="1600200"/>
            <a:ext cx="2148900" cy="438000"/>
          </a:xfrm>
          <a:prstGeom prst="roundRect">
            <a:avLst>
              <a:gd fmla="val 16667" name="adj"/>
            </a:avLst>
          </a:prstGeom>
          <a:solidFill>
            <a:srgbClr val="B07A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6"/>
          <p:cNvSpPr/>
          <p:nvPr/>
        </p:nvSpPr>
        <p:spPr>
          <a:xfrm>
            <a:off x="548650" y="1808803"/>
            <a:ext cx="2148900" cy="229500"/>
          </a:xfrm>
          <a:prstGeom prst="rect">
            <a:avLst/>
          </a:prstGeom>
          <a:solidFill>
            <a:srgbClr val="B07A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6"/>
          <p:cNvSpPr txBox="1"/>
          <p:nvPr/>
        </p:nvSpPr>
        <p:spPr>
          <a:xfrm>
            <a:off x="548650" y="1600200"/>
            <a:ext cx="2148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① SOURCES  ·  Bronze</a:t>
            </a:r>
            <a:endParaRPr/>
          </a:p>
        </p:txBody>
      </p:sp>
      <p:sp>
        <p:nvSpPr>
          <p:cNvPr id="175" name="Google Shape;175;p16"/>
          <p:cNvSpPr txBox="1"/>
          <p:nvPr/>
        </p:nvSpPr>
        <p:spPr>
          <a:xfrm>
            <a:off x="676666" y="2100847"/>
            <a:ext cx="1892700" cy="9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hcp_master · msl_interactions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medical_inquiries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congress_events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digital_engagement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publications_trials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patient_claims_summary</a:t>
            </a:r>
            <a:endParaRPr/>
          </a:p>
        </p:txBody>
      </p:sp>
      <p:sp>
        <p:nvSpPr>
          <p:cNvPr id="176" name="Google Shape;176;p16"/>
          <p:cNvSpPr txBox="1"/>
          <p:nvPr/>
        </p:nvSpPr>
        <p:spPr>
          <a:xfrm>
            <a:off x="548650" y="3237733"/>
            <a:ext cx="2148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Lakeflow Auto Loader:  UC Volume → Bronze</a:t>
            </a:r>
            <a:endParaRPr/>
          </a:p>
        </p:txBody>
      </p:sp>
      <p:sp>
        <p:nvSpPr>
          <p:cNvPr id="177" name="Google Shape;177;p16"/>
          <p:cNvSpPr/>
          <p:nvPr/>
        </p:nvSpPr>
        <p:spPr>
          <a:xfrm>
            <a:off x="2999240" y="1600200"/>
            <a:ext cx="2148900" cy="1616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6"/>
          <p:cNvSpPr/>
          <p:nvPr/>
        </p:nvSpPr>
        <p:spPr>
          <a:xfrm>
            <a:off x="2999240" y="1600200"/>
            <a:ext cx="2148900" cy="438000"/>
          </a:xfrm>
          <a:prstGeom prst="roundRect">
            <a:avLst>
              <a:gd fmla="val 16667" name="adj"/>
            </a:avLst>
          </a:prstGeom>
          <a:solidFill>
            <a:srgbClr val="8A94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6"/>
          <p:cNvSpPr/>
          <p:nvPr/>
        </p:nvSpPr>
        <p:spPr>
          <a:xfrm>
            <a:off x="2999240" y="1808803"/>
            <a:ext cx="2148900" cy="229500"/>
          </a:xfrm>
          <a:prstGeom prst="rect">
            <a:avLst/>
          </a:prstGeom>
          <a:solidFill>
            <a:srgbClr val="8A94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6"/>
          <p:cNvSpPr txBox="1"/>
          <p:nvPr/>
        </p:nvSpPr>
        <p:spPr>
          <a:xfrm>
            <a:off x="2999240" y="1600200"/>
            <a:ext cx="2148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② SILVER  ·  AI extract</a:t>
            </a:r>
            <a:endParaRPr/>
          </a:p>
        </p:txBody>
      </p:sp>
      <p:sp>
        <p:nvSpPr>
          <p:cNvPr id="181" name="Google Shape;181;p16"/>
          <p:cNvSpPr txBox="1"/>
          <p:nvPr/>
        </p:nvSpPr>
        <p:spPr>
          <a:xfrm>
            <a:off x="3127256" y="2100847"/>
            <a:ext cx="1892700" cy="9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silver_msl_extracted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b="0" i="0" sz="900" u="none" cap="none" strike="noStrike">
              <a:solidFill>
                <a:srgbClr val="1A1A2E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ai_query() over raw MSL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notes → scientific topic,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info need, sentiment,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follow-up, competitor…</a:t>
            </a:r>
            <a:endParaRPr/>
          </a:p>
        </p:txBody>
      </p:sp>
      <p:sp>
        <p:nvSpPr>
          <p:cNvPr id="182" name="Google Shape;182;p16"/>
          <p:cNvSpPr txBox="1"/>
          <p:nvPr/>
        </p:nvSpPr>
        <p:spPr>
          <a:xfrm>
            <a:off x="2999240" y="3237733"/>
            <a:ext cx="2148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Llama 3.3 70B · ai_query()</a:t>
            </a:r>
            <a:endParaRPr/>
          </a:p>
        </p:txBody>
      </p:sp>
      <p:sp>
        <p:nvSpPr>
          <p:cNvPr id="183" name="Google Shape;183;p16"/>
          <p:cNvSpPr/>
          <p:nvPr/>
        </p:nvSpPr>
        <p:spPr>
          <a:xfrm>
            <a:off x="5449830" y="1600200"/>
            <a:ext cx="2148900" cy="1616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/>
          <p:nvPr/>
        </p:nvSpPr>
        <p:spPr>
          <a:xfrm>
            <a:off x="5449830" y="1600200"/>
            <a:ext cx="2148900" cy="438000"/>
          </a:xfrm>
          <a:prstGeom prst="roundRect">
            <a:avLst>
              <a:gd fmla="val 16667" name="adj"/>
            </a:avLst>
          </a:prstGeom>
          <a:solidFill>
            <a:srgbClr val="C99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6"/>
          <p:cNvSpPr/>
          <p:nvPr/>
        </p:nvSpPr>
        <p:spPr>
          <a:xfrm>
            <a:off x="5449830" y="1808803"/>
            <a:ext cx="2148900" cy="229500"/>
          </a:xfrm>
          <a:prstGeom prst="rect">
            <a:avLst/>
          </a:prstGeom>
          <a:solidFill>
            <a:srgbClr val="C99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6"/>
          <p:cNvSpPr txBox="1"/>
          <p:nvPr/>
        </p:nvSpPr>
        <p:spPr>
          <a:xfrm>
            <a:off x="5449830" y="1600200"/>
            <a:ext cx="2148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③ GOLD  ·  Analytics</a:t>
            </a:r>
            <a:endParaRPr/>
          </a:p>
        </p:txBody>
      </p:sp>
      <p:sp>
        <p:nvSpPr>
          <p:cNvPr id="187" name="Google Shape;187;p16"/>
          <p:cNvSpPr txBox="1"/>
          <p:nvPr/>
        </p:nvSpPr>
        <p:spPr>
          <a:xfrm>
            <a:off x="5577845" y="2100847"/>
            <a:ext cx="1892700" cy="9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gold_hcp_360 · </a:t>
            </a: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hcp_priority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medical_topic_interest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next_best_engagement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territory_opportunity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congress_engagement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approved_content / shared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5449830" y="3237733"/>
            <a:ext cx="2148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 governed metric views</a:t>
            </a:r>
            <a:endParaRPr/>
          </a:p>
        </p:txBody>
      </p:sp>
      <p:sp>
        <p:nvSpPr>
          <p:cNvPr id="189" name="Google Shape;189;p16"/>
          <p:cNvSpPr/>
          <p:nvPr/>
        </p:nvSpPr>
        <p:spPr>
          <a:xfrm>
            <a:off x="7900419" y="1600200"/>
            <a:ext cx="1874400" cy="1616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6"/>
          <p:cNvSpPr/>
          <p:nvPr/>
        </p:nvSpPr>
        <p:spPr>
          <a:xfrm>
            <a:off x="7900419" y="1600200"/>
            <a:ext cx="1874400" cy="438000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6"/>
          <p:cNvSpPr/>
          <p:nvPr/>
        </p:nvSpPr>
        <p:spPr>
          <a:xfrm>
            <a:off x="7900419" y="1808803"/>
            <a:ext cx="1874400" cy="229500"/>
          </a:xfrm>
          <a:prstGeom prst="rect">
            <a:avLst/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6"/>
          <p:cNvSpPr txBox="1"/>
          <p:nvPr/>
        </p:nvSpPr>
        <p:spPr>
          <a:xfrm>
            <a:off x="7900419" y="1600200"/>
            <a:ext cx="18744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④ GOVERNED KPIs</a:t>
            </a:r>
            <a:endParaRPr/>
          </a:p>
        </p:txBody>
      </p:sp>
      <p:sp>
        <p:nvSpPr>
          <p:cNvPr id="193" name="Google Shape;193;p16"/>
          <p:cNvSpPr txBox="1"/>
          <p:nvPr/>
        </p:nvSpPr>
        <p:spPr>
          <a:xfrm>
            <a:off x="8028435" y="2100847"/>
            <a:ext cx="1618500" cy="9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metric_hcp_engagement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metric_medical_inquiries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b="0" i="0" sz="900" u="none" cap="none" strike="noStrike">
              <a:solidFill>
                <a:srgbClr val="1A1A2E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Consistent business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metrics reused by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dashboard + Genie</a:t>
            </a:r>
            <a:endParaRPr/>
          </a:p>
        </p:txBody>
      </p:sp>
      <p:sp>
        <p:nvSpPr>
          <p:cNvPr id="194" name="Google Shape;194;p16"/>
          <p:cNvSpPr/>
          <p:nvPr/>
        </p:nvSpPr>
        <p:spPr>
          <a:xfrm>
            <a:off x="10058401" y="1600200"/>
            <a:ext cx="1600200" cy="459000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6"/>
          <p:cNvSpPr txBox="1"/>
          <p:nvPr/>
        </p:nvSpPr>
        <p:spPr>
          <a:xfrm>
            <a:off x="10058401" y="1600200"/>
            <a:ext cx="1600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Genie</a:t>
            </a:r>
            <a:endParaRPr/>
          </a:p>
        </p:txBody>
      </p:sp>
      <p:sp>
        <p:nvSpPr>
          <p:cNvPr id="196" name="Google Shape;196;p16"/>
          <p:cNvSpPr/>
          <p:nvPr/>
        </p:nvSpPr>
        <p:spPr>
          <a:xfrm>
            <a:off x="10058401" y="2142567"/>
            <a:ext cx="1600200" cy="459000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6"/>
          <p:cNvSpPr txBox="1"/>
          <p:nvPr/>
        </p:nvSpPr>
        <p:spPr>
          <a:xfrm>
            <a:off x="10058401" y="2142567"/>
            <a:ext cx="1600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📊 Dashboard</a:t>
            </a:r>
            <a:endParaRPr/>
          </a:p>
        </p:txBody>
      </p:sp>
      <p:sp>
        <p:nvSpPr>
          <p:cNvPr id="198" name="Google Shape;198;p16"/>
          <p:cNvSpPr/>
          <p:nvPr/>
        </p:nvSpPr>
        <p:spPr>
          <a:xfrm>
            <a:off x="10058401" y="2684935"/>
            <a:ext cx="1600200" cy="459000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6"/>
          <p:cNvSpPr txBox="1"/>
          <p:nvPr/>
        </p:nvSpPr>
        <p:spPr>
          <a:xfrm>
            <a:off x="10058401" y="2684935"/>
            <a:ext cx="1600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🧬 Copilot App</a:t>
            </a:r>
            <a:endParaRPr/>
          </a:p>
        </p:txBody>
      </p:sp>
      <p:sp>
        <p:nvSpPr>
          <p:cNvPr id="200" name="Google Shape;200;p16"/>
          <p:cNvSpPr/>
          <p:nvPr/>
        </p:nvSpPr>
        <p:spPr>
          <a:xfrm>
            <a:off x="2715776" y="2246869"/>
            <a:ext cx="255900" cy="250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07A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6"/>
          <p:cNvSpPr/>
          <p:nvPr/>
        </p:nvSpPr>
        <p:spPr>
          <a:xfrm>
            <a:off x="5166366" y="2246869"/>
            <a:ext cx="255900" cy="250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8A94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6"/>
          <p:cNvSpPr/>
          <p:nvPr/>
        </p:nvSpPr>
        <p:spPr>
          <a:xfrm>
            <a:off x="7616956" y="2246869"/>
            <a:ext cx="255900" cy="250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C99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6"/>
          <p:cNvSpPr/>
          <p:nvPr/>
        </p:nvSpPr>
        <p:spPr>
          <a:xfrm>
            <a:off x="9802370" y="2246869"/>
            <a:ext cx="237600" cy="250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6"/>
          <p:cNvSpPr/>
          <p:nvPr/>
        </p:nvSpPr>
        <p:spPr>
          <a:xfrm>
            <a:off x="548640" y="4063500"/>
            <a:ext cx="11091600" cy="567000"/>
          </a:xfrm>
          <a:prstGeom prst="roundRect">
            <a:avLst>
              <a:gd fmla="val 16667" name="adj"/>
            </a:avLst>
          </a:prstGeom>
          <a:solidFill>
            <a:srgbClr val="0B17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6"/>
          <p:cNvSpPr txBox="1"/>
          <p:nvPr/>
        </p:nvSpPr>
        <p:spPr>
          <a:xfrm>
            <a:off x="731520" y="4063500"/>
            <a:ext cx="10789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🤖  Databricks-hosted LLM  —  databricks-meta-llama-3-3-70b-instruct  ·  called via ai_query() for silver extraction AND the app's pre-engagement briefing</a:t>
            </a:r>
            <a:endParaRPr/>
          </a:p>
        </p:txBody>
      </p:sp>
      <p:sp>
        <p:nvSpPr>
          <p:cNvPr id="206" name="Google Shape;206;p16"/>
          <p:cNvSpPr/>
          <p:nvPr/>
        </p:nvSpPr>
        <p:spPr>
          <a:xfrm>
            <a:off x="548640" y="4795020"/>
            <a:ext cx="11091600" cy="567000"/>
          </a:xfrm>
          <a:prstGeom prst="roundRect">
            <a:avLst>
              <a:gd fmla="val 16667" name="adj"/>
            </a:avLst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6"/>
          <p:cNvSpPr txBox="1"/>
          <p:nvPr/>
        </p:nvSpPr>
        <p:spPr>
          <a:xfrm>
            <a:off x="731520" y="4795020"/>
            <a:ext cx="10789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🔒  Unity Catalog  —  single governance &amp; lineage layer across every table, metric and surface  ·  Delta Lake  ·  Lakebase operational serving  ·  serverless SQL</a:t>
            </a:r>
            <a:endParaRPr/>
          </a:p>
        </p:txBody>
      </p:sp>
      <p:sp>
        <p:nvSpPr>
          <p:cNvPr id="208" name="Google Shape;208;p16"/>
          <p:cNvSpPr txBox="1"/>
          <p:nvPr/>
        </p:nvSpPr>
        <p:spPr>
          <a:xfrm>
            <a:off x="548640" y="5572260"/>
            <a:ext cx="11091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Genie, the AI/BI dashboard, the Lakebase MSL action queue, and the Copilot app all read the SAME governed Gold tables &amp; metric views — one source of truth, one security model.</a:t>
            </a:r>
            <a:endParaRPr/>
          </a:p>
        </p:txBody>
      </p:sp>
      <p:sp>
        <p:nvSpPr>
          <p:cNvPr id="209" name="Google Shape;209;p16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7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7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DATA LAYER</a:t>
            </a:r>
            <a:endParaRPr/>
          </a:p>
        </p:txBody>
      </p:sp>
      <p:sp>
        <p:nvSpPr>
          <p:cNvPr id="216" name="Google Shape;216;p17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Lakeflow medallion in Unity Catalog (_sa701.moa)</a:t>
            </a:r>
            <a:endParaRPr/>
          </a:p>
        </p:txBody>
      </p:sp>
      <p:sp>
        <p:nvSpPr>
          <p:cNvPr id="217" name="Google Shape;217;p17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06</a:t>
            </a:r>
            <a:endParaRPr/>
          </a:p>
        </p:txBody>
      </p:sp>
      <p:sp>
        <p:nvSpPr>
          <p:cNvPr id="218" name="Google Shape;218;p17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7"/>
          <p:cNvSpPr/>
          <p:nvPr/>
        </p:nvSpPr>
        <p:spPr>
          <a:xfrm>
            <a:off x="548640" y="1645920"/>
            <a:ext cx="361188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7"/>
          <p:cNvSpPr/>
          <p:nvPr/>
        </p:nvSpPr>
        <p:spPr>
          <a:xfrm>
            <a:off x="548640" y="1645920"/>
            <a:ext cx="3611880" cy="502920"/>
          </a:xfrm>
          <a:prstGeom prst="roundRect">
            <a:avLst>
              <a:gd fmla="val 16667" name="adj"/>
            </a:avLst>
          </a:prstGeom>
          <a:solidFill>
            <a:srgbClr val="B07A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7"/>
          <p:cNvSpPr/>
          <p:nvPr/>
        </p:nvSpPr>
        <p:spPr>
          <a:xfrm>
            <a:off x="548640" y="1901952"/>
            <a:ext cx="3611880" cy="246888"/>
          </a:xfrm>
          <a:prstGeom prst="rect">
            <a:avLst/>
          </a:prstGeom>
          <a:solidFill>
            <a:srgbClr val="B07A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7"/>
          <p:cNvSpPr txBox="1"/>
          <p:nvPr/>
        </p:nvSpPr>
        <p:spPr>
          <a:xfrm>
            <a:off x="548640" y="1645920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BRONZE / SOURCE</a:t>
            </a:r>
            <a:endParaRPr/>
          </a:p>
        </p:txBody>
      </p:sp>
      <p:sp>
        <p:nvSpPr>
          <p:cNvPr id="223" name="Google Shape;223;p17"/>
          <p:cNvSpPr txBox="1"/>
          <p:nvPr/>
        </p:nvSpPr>
        <p:spPr>
          <a:xfrm>
            <a:off x="804672" y="233172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hcp_master</a:t>
            </a:r>
            <a:endParaRPr/>
          </a:p>
        </p:txBody>
      </p:sp>
      <p:sp>
        <p:nvSpPr>
          <p:cNvPr id="224" name="Google Shape;224;p17"/>
          <p:cNvSpPr txBox="1"/>
          <p:nvPr/>
        </p:nvSpPr>
        <p:spPr>
          <a:xfrm>
            <a:off x="804672" y="2660904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msl_interactions (free-text notes)</a:t>
            </a:r>
            <a:endParaRPr/>
          </a:p>
        </p:txBody>
      </p:sp>
      <p:sp>
        <p:nvSpPr>
          <p:cNvPr id="225" name="Google Shape;225;p17"/>
          <p:cNvSpPr txBox="1"/>
          <p:nvPr/>
        </p:nvSpPr>
        <p:spPr>
          <a:xfrm>
            <a:off x="804672" y="2990088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medical_inquiries</a:t>
            </a:r>
            <a:endParaRPr/>
          </a:p>
        </p:txBody>
      </p:sp>
      <p:sp>
        <p:nvSpPr>
          <p:cNvPr id="226" name="Google Shape;226;p17"/>
          <p:cNvSpPr txBox="1"/>
          <p:nvPr/>
        </p:nvSpPr>
        <p:spPr>
          <a:xfrm>
            <a:off x="804672" y="3319272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congress_events</a:t>
            </a:r>
            <a:endParaRPr/>
          </a:p>
        </p:txBody>
      </p:sp>
      <p:sp>
        <p:nvSpPr>
          <p:cNvPr id="227" name="Google Shape;227;p17"/>
          <p:cNvSpPr txBox="1"/>
          <p:nvPr/>
        </p:nvSpPr>
        <p:spPr>
          <a:xfrm>
            <a:off x="804672" y="3648456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digital_engagement</a:t>
            </a:r>
            <a:endParaRPr/>
          </a:p>
        </p:txBody>
      </p:sp>
      <p:sp>
        <p:nvSpPr>
          <p:cNvPr id="228" name="Google Shape;228;p17"/>
          <p:cNvSpPr txBox="1"/>
          <p:nvPr/>
        </p:nvSpPr>
        <p:spPr>
          <a:xfrm>
            <a:off x="804672" y="397764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publications_trials</a:t>
            </a:r>
            <a:endParaRPr/>
          </a:p>
        </p:txBody>
      </p:sp>
      <p:sp>
        <p:nvSpPr>
          <p:cNvPr id="229" name="Google Shape;229;p17"/>
          <p:cNvSpPr txBox="1"/>
          <p:nvPr/>
        </p:nvSpPr>
        <p:spPr>
          <a:xfrm>
            <a:off x="804672" y="4306824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patient_claims_summary</a:t>
            </a:r>
            <a:endParaRPr/>
          </a:p>
        </p:txBody>
      </p:sp>
      <p:sp>
        <p:nvSpPr>
          <p:cNvPr id="230" name="Google Shape;230;p17"/>
          <p:cNvSpPr txBox="1"/>
          <p:nvPr/>
        </p:nvSpPr>
        <p:spPr>
          <a:xfrm>
            <a:off x="731520" y="4800600"/>
            <a:ext cx="3246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B07A3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Raw omnichannel signal landed as Delta tables</a:t>
            </a:r>
            <a:endParaRPr/>
          </a:p>
        </p:txBody>
      </p:sp>
      <p:sp>
        <p:nvSpPr>
          <p:cNvPr id="231" name="Google Shape;231;p17"/>
          <p:cNvSpPr/>
          <p:nvPr/>
        </p:nvSpPr>
        <p:spPr>
          <a:xfrm>
            <a:off x="4288536" y="1645920"/>
            <a:ext cx="361188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7"/>
          <p:cNvSpPr/>
          <p:nvPr/>
        </p:nvSpPr>
        <p:spPr>
          <a:xfrm>
            <a:off x="4288536" y="1645920"/>
            <a:ext cx="3611880" cy="502920"/>
          </a:xfrm>
          <a:prstGeom prst="roundRect">
            <a:avLst>
              <a:gd fmla="val 16667" name="adj"/>
            </a:avLst>
          </a:prstGeom>
          <a:solidFill>
            <a:srgbClr val="8A94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7"/>
          <p:cNvSpPr/>
          <p:nvPr/>
        </p:nvSpPr>
        <p:spPr>
          <a:xfrm>
            <a:off x="4288536" y="1901952"/>
            <a:ext cx="3611880" cy="246888"/>
          </a:xfrm>
          <a:prstGeom prst="rect">
            <a:avLst/>
          </a:prstGeom>
          <a:solidFill>
            <a:srgbClr val="8A94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7"/>
          <p:cNvSpPr txBox="1"/>
          <p:nvPr/>
        </p:nvSpPr>
        <p:spPr>
          <a:xfrm>
            <a:off x="4288536" y="1645920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SILVER</a:t>
            </a:r>
            <a:endParaRPr/>
          </a:p>
        </p:txBody>
      </p:sp>
      <p:sp>
        <p:nvSpPr>
          <p:cNvPr id="235" name="Google Shape;235;p17"/>
          <p:cNvSpPr txBox="1"/>
          <p:nvPr/>
        </p:nvSpPr>
        <p:spPr>
          <a:xfrm>
            <a:off x="4544568" y="233172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silver_msl_extracted</a:t>
            </a:r>
            <a:endParaRPr/>
          </a:p>
        </p:txBody>
      </p:sp>
      <p:sp>
        <p:nvSpPr>
          <p:cNvPr id="236" name="Google Shape;236;p17"/>
          <p:cNvSpPr txBox="1"/>
          <p:nvPr/>
        </p:nvSpPr>
        <p:spPr>
          <a:xfrm>
            <a:off x="4544568" y="2770632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Structured fields extracted from</a:t>
            </a:r>
            <a:endParaRPr/>
          </a:p>
        </p:txBody>
      </p:sp>
      <p:sp>
        <p:nvSpPr>
          <p:cNvPr id="237" name="Google Shape;237;p17"/>
          <p:cNvSpPr txBox="1"/>
          <p:nvPr/>
        </p:nvSpPr>
        <p:spPr>
          <a:xfrm>
            <a:off x="4544568" y="306324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raw MSL notes with ai_query():</a:t>
            </a:r>
            <a:endParaRPr/>
          </a:p>
        </p:txBody>
      </p:sp>
      <p:sp>
        <p:nvSpPr>
          <p:cNvPr id="238" name="Google Shape;238;p17"/>
          <p:cNvSpPr txBox="1"/>
          <p:nvPr/>
        </p:nvSpPr>
        <p:spPr>
          <a:xfrm>
            <a:off x="4544568" y="3355848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topic · info need · sentiment ·</a:t>
            </a:r>
            <a:endParaRPr/>
          </a:p>
        </p:txBody>
      </p:sp>
      <p:sp>
        <p:nvSpPr>
          <p:cNvPr id="239" name="Google Shape;239;p17"/>
          <p:cNvSpPr txBox="1"/>
          <p:nvPr/>
        </p:nvSpPr>
        <p:spPr>
          <a:xfrm>
            <a:off x="4544568" y="3648456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interest · follow-up · competitor ·</a:t>
            </a:r>
            <a:endParaRPr/>
          </a:p>
        </p:txBody>
      </p:sp>
      <p:sp>
        <p:nvSpPr>
          <p:cNvPr id="240" name="Google Shape;240;p17"/>
          <p:cNvSpPr txBox="1"/>
          <p:nvPr/>
        </p:nvSpPr>
        <p:spPr>
          <a:xfrm>
            <a:off x="4544568" y="3941064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evidence type · topic_category</a:t>
            </a:r>
            <a:endParaRPr/>
          </a:p>
        </p:txBody>
      </p:sp>
      <p:sp>
        <p:nvSpPr>
          <p:cNvPr id="241" name="Google Shape;241;p17"/>
          <p:cNvSpPr txBox="1"/>
          <p:nvPr/>
        </p:nvSpPr>
        <p:spPr>
          <a:xfrm>
            <a:off x="4471416" y="4800600"/>
            <a:ext cx="3246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8A94A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Unstructured → structured, LLM-powered</a:t>
            </a:r>
            <a:endParaRPr/>
          </a:p>
        </p:txBody>
      </p:sp>
      <p:sp>
        <p:nvSpPr>
          <p:cNvPr id="242" name="Google Shape;242;p17"/>
          <p:cNvSpPr/>
          <p:nvPr/>
        </p:nvSpPr>
        <p:spPr>
          <a:xfrm>
            <a:off x="8028432" y="1645920"/>
            <a:ext cx="361188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8028432" y="1645920"/>
            <a:ext cx="3611880" cy="502920"/>
          </a:xfrm>
          <a:prstGeom prst="roundRect">
            <a:avLst>
              <a:gd fmla="val 16667" name="adj"/>
            </a:avLst>
          </a:prstGeom>
          <a:solidFill>
            <a:srgbClr val="C99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7"/>
          <p:cNvSpPr/>
          <p:nvPr/>
        </p:nvSpPr>
        <p:spPr>
          <a:xfrm>
            <a:off x="8028432" y="1901952"/>
            <a:ext cx="3611880" cy="246888"/>
          </a:xfrm>
          <a:prstGeom prst="rect">
            <a:avLst/>
          </a:prstGeom>
          <a:solidFill>
            <a:srgbClr val="C99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7"/>
          <p:cNvSpPr txBox="1"/>
          <p:nvPr/>
        </p:nvSpPr>
        <p:spPr>
          <a:xfrm>
            <a:off x="8028432" y="1645920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GOLD</a:t>
            </a:r>
            <a:endParaRPr/>
          </a:p>
        </p:txBody>
      </p:sp>
      <p:sp>
        <p:nvSpPr>
          <p:cNvPr id="246" name="Google Shape;246;p17"/>
          <p:cNvSpPr txBox="1"/>
          <p:nvPr/>
        </p:nvSpPr>
        <p:spPr>
          <a:xfrm>
            <a:off x="8284464" y="233172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gold_hcp_360</a:t>
            </a:r>
            <a:endParaRPr/>
          </a:p>
        </p:txBody>
      </p:sp>
      <p:sp>
        <p:nvSpPr>
          <p:cNvPr id="247" name="Google Shape;247;p17"/>
          <p:cNvSpPr txBox="1"/>
          <p:nvPr/>
        </p:nvSpPr>
        <p:spPr>
          <a:xfrm>
            <a:off x="8284464" y="2660904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gold_hcp_priority</a:t>
            </a:r>
            <a:endParaRPr/>
          </a:p>
        </p:txBody>
      </p:sp>
      <p:sp>
        <p:nvSpPr>
          <p:cNvPr id="248" name="Google Shape;248;p17"/>
          <p:cNvSpPr txBox="1"/>
          <p:nvPr/>
        </p:nvSpPr>
        <p:spPr>
          <a:xfrm>
            <a:off x="8284464" y="2990088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gold_medical_topic_interest</a:t>
            </a:r>
            <a:endParaRPr/>
          </a:p>
        </p:txBody>
      </p:sp>
      <p:sp>
        <p:nvSpPr>
          <p:cNvPr id="249" name="Google Shape;249;p17"/>
          <p:cNvSpPr txBox="1"/>
          <p:nvPr/>
        </p:nvSpPr>
        <p:spPr>
          <a:xfrm>
            <a:off x="8284464" y="3319272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gold_next_best_engagement</a:t>
            </a:r>
            <a:endParaRPr/>
          </a:p>
        </p:txBody>
      </p:sp>
      <p:sp>
        <p:nvSpPr>
          <p:cNvPr id="250" name="Google Shape;250;p17"/>
          <p:cNvSpPr txBox="1"/>
          <p:nvPr/>
        </p:nvSpPr>
        <p:spPr>
          <a:xfrm>
            <a:off x="8284464" y="3648456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gold_territory_opportunity</a:t>
            </a:r>
            <a:endParaRPr/>
          </a:p>
        </p:txBody>
      </p:sp>
      <p:sp>
        <p:nvSpPr>
          <p:cNvPr id="251" name="Google Shape;251;p17"/>
          <p:cNvSpPr txBox="1"/>
          <p:nvPr/>
        </p:nvSpPr>
        <p:spPr>
          <a:xfrm>
            <a:off x="8284464" y="397764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gold_congress_engagement</a:t>
            </a:r>
            <a:endParaRPr/>
          </a:p>
        </p:txBody>
      </p:sp>
      <p:sp>
        <p:nvSpPr>
          <p:cNvPr id="252" name="Google Shape;252;p17"/>
          <p:cNvSpPr txBox="1"/>
          <p:nvPr/>
        </p:nvSpPr>
        <p:spPr>
          <a:xfrm>
            <a:off x="8284464" y="4306824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gold_approved_content / _content_shared</a:t>
            </a:r>
            <a:endParaRPr/>
          </a:p>
        </p:txBody>
      </p:sp>
      <p:sp>
        <p:nvSpPr>
          <p:cNvPr id="253" name="Google Shape;253;p17"/>
          <p:cNvSpPr txBox="1"/>
          <p:nvPr/>
        </p:nvSpPr>
        <p:spPr>
          <a:xfrm>
            <a:off x="8211312" y="4800600"/>
            <a:ext cx="3246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C99A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Analytics-ready, aggregated &amp; scored</a:t>
            </a:r>
            <a:endParaRPr/>
          </a:p>
        </p:txBody>
      </p:sp>
      <p:sp>
        <p:nvSpPr>
          <p:cNvPr id="254" name="Google Shape;254;p17"/>
          <p:cNvSpPr txBox="1"/>
          <p:nvPr/>
        </p:nvSpPr>
        <p:spPr>
          <a:xfrm>
            <a:off x="548640" y="55321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 Delta tables  ·  2 governed metric views  ·  2 UC Volumes (raw + source_documents)  —  Lakeflow-built, Lakebase-served, one lineage graph</a:t>
            </a:r>
            <a:endParaRPr/>
          </a:p>
        </p:txBody>
      </p:sp>
      <p:sp>
        <p:nvSpPr>
          <p:cNvPr id="255" name="Google Shape;255;p17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8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8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IN THE PIPELINE</a:t>
            </a:r>
            <a:endParaRPr/>
          </a:p>
        </p:txBody>
      </p:sp>
      <p:sp>
        <p:nvSpPr>
          <p:cNvPr id="262" name="Google Shape;262;p18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From free-text notes to structured intelligence</a:t>
            </a:r>
            <a:endParaRPr/>
          </a:p>
        </p:txBody>
      </p:sp>
      <p:sp>
        <p:nvSpPr>
          <p:cNvPr id="263" name="Google Shape;263;p18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07</a:t>
            </a:r>
            <a:endParaRPr/>
          </a:p>
        </p:txBody>
      </p:sp>
      <p:sp>
        <p:nvSpPr>
          <p:cNvPr id="264" name="Google Shape;264;p18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8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richest medical signal is locked in unstructured MSL notes. We unlock it in-place with ai_query() — no data movement, fully governed, at SQL scale.</a:t>
            </a:r>
            <a:endParaRPr/>
          </a:p>
        </p:txBody>
      </p:sp>
      <p:sp>
        <p:nvSpPr>
          <p:cNvPr id="266" name="Google Shape;266;p18"/>
          <p:cNvSpPr/>
          <p:nvPr/>
        </p:nvSpPr>
        <p:spPr>
          <a:xfrm>
            <a:off x="548640" y="2240280"/>
            <a:ext cx="4297680" cy="3291840"/>
          </a:xfrm>
          <a:prstGeom prst="roundRect">
            <a:avLst>
              <a:gd fmla="val 16667" name="adj"/>
            </a:avLst>
          </a:prstGeom>
          <a:solidFill>
            <a:srgbClr val="0B1733"/>
          </a:solidFill>
          <a:ln cap="flat" cmpd="sng" w="12700">
            <a:solidFill>
              <a:srgbClr val="0B1733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8"/>
          <p:cNvSpPr txBox="1"/>
          <p:nvPr/>
        </p:nvSpPr>
        <p:spPr>
          <a:xfrm>
            <a:off x="777240" y="242316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7EC8E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RAW MSL INTERACTION NOTE</a:t>
            </a:r>
            <a:endParaRPr/>
          </a:p>
        </p:txBody>
      </p:sp>
      <p:sp>
        <p:nvSpPr>
          <p:cNvPr id="268" name="Google Shape;268;p18"/>
          <p:cNvSpPr txBox="1"/>
          <p:nvPr/>
        </p:nvSpPr>
        <p:spPr>
          <a:xfrm>
            <a:off x="777240" y="2834640"/>
            <a:ext cx="3886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"Met with the KOL to discuss real-world outcomes and treatment patterns post-T-DXd for Enhertu in HER2-low breast cancer. Tone positive, high scientific interest. Compared experience with Kadcyla and requested follow-up materials."</a:t>
            </a:r>
            <a:endParaRPr/>
          </a:p>
        </p:txBody>
      </p:sp>
      <p:sp>
        <p:nvSpPr>
          <p:cNvPr id="269" name="Google Shape;269;p18"/>
          <p:cNvSpPr/>
          <p:nvPr/>
        </p:nvSpPr>
        <p:spPr>
          <a:xfrm>
            <a:off x="4983480" y="3566160"/>
            <a:ext cx="777240" cy="64008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8"/>
          <p:cNvSpPr txBox="1"/>
          <p:nvPr/>
        </p:nvSpPr>
        <p:spPr>
          <a:xfrm>
            <a:off x="4846320" y="3246120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ai_query()</a:t>
            </a:r>
            <a:endParaRPr/>
          </a:p>
        </p:txBody>
      </p:sp>
      <p:sp>
        <p:nvSpPr>
          <p:cNvPr id="271" name="Google Shape;271;p18"/>
          <p:cNvSpPr txBox="1"/>
          <p:nvPr/>
        </p:nvSpPr>
        <p:spPr>
          <a:xfrm>
            <a:off x="4846320" y="4251960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Llama 3.3 70B</a:t>
            </a:r>
            <a:endParaRPr/>
          </a:p>
        </p:txBody>
      </p:sp>
      <p:sp>
        <p:nvSpPr>
          <p:cNvPr id="272" name="Google Shape;272;p18"/>
          <p:cNvSpPr/>
          <p:nvPr/>
        </p:nvSpPr>
        <p:spPr>
          <a:xfrm>
            <a:off x="5989320" y="2240280"/>
            <a:ext cx="5650992" cy="3291840"/>
          </a:xfrm>
          <a:prstGeom prst="roundRect">
            <a:avLst>
              <a:gd fmla="val 16667" name="adj"/>
            </a:avLst>
          </a:prstGeom>
          <a:solidFill>
            <a:srgbClr val="DEF5E7"/>
          </a:solidFill>
          <a:ln cap="flat" cmpd="sng" w="12700">
            <a:solidFill>
              <a:srgbClr val="1F9D55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8"/>
          <p:cNvSpPr txBox="1"/>
          <p:nvPr/>
        </p:nvSpPr>
        <p:spPr>
          <a:xfrm>
            <a:off x="6217920" y="242316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F9D5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silver_msl_extracted  (structured)</a:t>
            </a:r>
            <a:endParaRPr/>
          </a:p>
        </p:txBody>
      </p:sp>
      <p:sp>
        <p:nvSpPr>
          <p:cNvPr id="274" name="Google Shape;274;p18"/>
          <p:cNvSpPr txBox="1"/>
          <p:nvPr/>
        </p:nvSpPr>
        <p:spPr>
          <a:xfrm>
            <a:off x="6217920" y="283464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scientific_topic</a:t>
            </a:r>
            <a:endParaRPr/>
          </a:p>
        </p:txBody>
      </p:sp>
      <p:sp>
        <p:nvSpPr>
          <p:cNvPr id="275" name="Google Shape;275;p18"/>
          <p:cNvSpPr txBox="1"/>
          <p:nvPr/>
        </p:nvSpPr>
        <p:spPr>
          <a:xfrm>
            <a:off x="8732520" y="28346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Real-world outcomes, T-DXd HER2-low</a:t>
            </a:r>
            <a:endParaRPr/>
          </a:p>
        </p:txBody>
      </p:sp>
      <p:sp>
        <p:nvSpPr>
          <p:cNvPr id="276" name="Google Shape;276;p18"/>
          <p:cNvSpPr txBox="1"/>
          <p:nvPr/>
        </p:nvSpPr>
        <p:spPr>
          <a:xfrm>
            <a:off x="6217920" y="312267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information_need</a:t>
            </a:r>
            <a:endParaRPr/>
          </a:p>
        </p:txBody>
      </p:sp>
      <p:sp>
        <p:nvSpPr>
          <p:cNvPr id="277" name="Google Shape;277;p18"/>
          <p:cNvSpPr txBox="1"/>
          <p:nvPr/>
        </p:nvSpPr>
        <p:spPr>
          <a:xfrm>
            <a:off x="8732520" y="3122676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Comparative real-world evidence</a:t>
            </a:r>
            <a:endParaRPr/>
          </a:p>
        </p:txBody>
      </p:sp>
      <p:sp>
        <p:nvSpPr>
          <p:cNvPr id="278" name="Google Shape;278;p18"/>
          <p:cNvSpPr txBox="1"/>
          <p:nvPr/>
        </p:nvSpPr>
        <p:spPr>
          <a:xfrm>
            <a:off x="6217920" y="341071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evidence_type_requested</a:t>
            </a:r>
            <a:endParaRPr/>
          </a:p>
        </p:txBody>
      </p:sp>
      <p:sp>
        <p:nvSpPr>
          <p:cNvPr id="279" name="Google Shape;279;p18"/>
          <p:cNvSpPr txBox="1"/>
          <p:nvPr/>
        </p:nvSpPr>
        <p:spPr>
          <a:xfrm>
            <a:off x="8732520" y="341071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Real-World Evidence</a:t>
            </a:r>
            <a:endParaRPr/>
          </a:p>
        </p:txBody>
      </p:sp>
      <p:sp>
        <p:nvSpPr>
          <p:cNvPr id="280" name="Google Shape;280;p18"/>
          <p:cNvSpPr txBox="1"/>
          <p:nvPr/>
        </p:nvSpPr>
        <p:spPr>
          <a:xfrm>
            <a:off x="6217920" y="369874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sentiment</a:t>
            </a:r>
            <a:endParaRPr/>
          </a:p>
        </p:txBody>
      </p:sp>
      <p:sp>
        <p:nvSpPr>
          <p:cNvPr id="281" name="Google Shape;281;p18"/>
          <p:cNvSpPr txBox="1"/>
          <p:nvPr/>
        </p:nvSpPr>
        <p:spPr>
          <a:xfrm>
            <a:off x="8732520" y="36987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Positive</a:t>
            </a:r>
            <a:endParaRPr/>
          </a:p>
        </p:txBody>
      </p:sp>
      <p:sp>
        <p:nvSpPr>
          <p:cNvPr id="282" name="Google Shape;282;p18"/>
          <p:cNvSpPr txBox="1"/>
          <p:nvPr/>
        </p:nvSpPr>
        <p:spPr>
          <a:xfrm>
            <a:off x="6217920" y="3986784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interest_level</a:t>
            </a:r>
            <a:endParaRPr/>
          </a:p>
        </p:txBody>
      </p:sp>
      <p:sp>
        <p:nvSpPr>
          <p:cNvPr id="283" name="Google Shape;283;p18"/>
          <p:cNvSpPr txBox="1"/>
          <p:nvPr/>
        </p:nvSpPr>
        <p:spPr>
          <a:xfrm>
            <a:off x="8732520" y="3986784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</a:t>
            </a:r>
            <a:endParaRPr/>
          </a:p>
        </p:txBody>
      </p:sp>
      <p:sp>
        <p:nvSpPr>
          <p:cNvPr id="284" name="Google Shape;284;p18"/>
          <p:cNvSpPr txBox="1"/>
          <p:nvPr/>
        </p:nvSpPr>
        <p:spPr>
          <a:xfrm>
            <a:off x="6217920" y="427482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follow_up_requested</a:t>
            </a:r>
            <a:endParaRPr/>
          </a:p>
        </p:txBody>
      </p:sp>
      <p:sp>
        <p:nvSpPr>
          <p:cNvPr id="285" name="Google Shape;285;p18"/>
          <p:cNvSpPr txBox="1"/>
          <p:nvPr/>
        </p:nvSpPr>
        <p:spPr>
          <a:xfrm>
            <a:off x="8732520" y="42748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true</a:t>
            </a:r>
            <a:endParaRPr/>
          </a:p>
        </p:txBody>
      </p:sp>
      <p:sp>
        <p:nvSpPr>
          <p:cNvPr id="286" name="Google Shape;286;p18"/>
          <p:cNvSpPr txBox="1"/>
          <p:nvPr/>
        </p:nvSpPr>
        <p:spPr>
          <a:xfrm>
            <a:off x="6217920" y="456285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competitor_mentioned</a:t>
            </a:r>
            <a:endParaRPr/>
          </a:p>
        </p:txBody>
      </p:sp>
      <p:sp>
        <p:nvSpPr>
          <p:cNvPr id="287" name="Google Shape;287;p18"/>
          <p:cNvSpPr txBox="1"/>
          <p:nvPr/>
        </p:nvSpPr>
        <p:spPr>
          <a:xfrm>
            <a:off x="8732520" y="4562856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Kadcyla</a:t>
            </a:r>
            <a:endParaRPr/>
          </a:p>
        </p:txBody>
      </p:sp>
      <p:sp>
        <p:nvSpPr>
          <p:cNvPr id="288" name="Google Shape;288;p18"/>
          <p:cNvSpPr txBox="1"/>
          <p:nvPr/>
        </p:nvSpPr>
        <p:spPr>
          <a:xfrm>
            <a:off x="6217920" y="485089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preferred_channel</a:t>
            </a:r>
            <a:endParaRPr/>
          </a:p>
        </p:txBody>
      </p:sp>
      <p:sp>
        <p:nvSpPr>
          <p:cNvPr id="289" name="Google Shape;289;p18"/>
          <p:cNvSpPr txBox="1"/>
          <p:nvPr/>
        </p:nvSpPr>
        <p:spPr>
          <a:xfrm>
            <a:off x="8732520" y="485089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In-person</a:t>
            </a:r>
            <a:endParaRPr/>
          </a:p>
        </p:txBody>
      </p:sp>
      <p:sp>
        <p:nvSpPr>
          <p:cNvPr id="290" name="Google Shape;290;p18"/>
          <p:cNvSpPr txBox="1"/>
          <p:nvPr/>
        </p:nvSpPr>
        <p:spPr>
          <a:xfrm>
            <a:off x="6217920" y="513892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topic_category</a:t>
            </a:r>
            <a:endParaRPr/>
          </a:p>
        </p:txBody>
      </p:sp>
      <p:sp>
        <p:nvSpPr>
          <p:cNvPr id="291" name="Google Shape;291;p18"/>
          <p:cNvSpPr txBox="1"/>
          <p:nvPr/>
        </p:nvSpPr>
        <p:spPr>
          <a:xfrm>
            <a:off x="8732520" y="513892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Real-World Evidence</a:t>
            </a:r>
            <a:endParaRPr/>
          </a:p>
        </p:txBody>
      </p:sp>
      <p:sp>
        <p:nvSpPr>
          <p:cNvPr id="292" name="Google Shape;292;p18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SQL function turns every MSL note into governed, queryable columns — the foundation for topic-interest scoring, prioritization, and next-best-engagement in Gold.</a:t>
            </a:r>
            <a:endParaRPr/>
          </a:p>
        </p:txBody>
      </p:sp>
      <p:sp>
        <p:nvSpPr>
          <p:cNvPr id="293" name="Google Shape;293;p18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9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9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CONSUMPTION · NATURAL LANGUAGE</a:t>
            </a:r>
            <a:endParaRPr/>
          </a:p>
        </p:txBody>
      </p:sp>
      <p:sp>
        <p:nvSpPr>
          <p:cNvPr id="300" name="Google Shape;300;p19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Genie space: ask Medical Affairs questions in English</a:t>
            </a:r>
            <a:endParaRPr/>
          </a:p>
        </p:txBody>
      </p:sp>
      <p:sp>
        <p:nvSpPr>
          <p:cNvPr id="301" name="Google Shape;301;p19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08</a:t>
            </a:r>
            <a:endParaRPr/>
          </a:p>
        </p:txBody>
      </p:sp>
      <p:sp>
        <p:nvSpPr>
          <p:cNvPr id="302" name="Google Shape;302;p19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9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"Medical Omnichannel Intelligence — Daiichi Sankyo" Genie space lets medical &amp; field teams self-serve governed answers — no SQL, no dashboard-hunting.</a:t>
            </a:r>
            <a:endParaRPr/>
          </a:p>
        </p:txBody>
      </p:sp>
      <p:sp>
        <p:nvSpPr>
          <p:cNvPr id="304" name="Google Shape;304;p19"/>
          <p:cNvSpPr/>
          <p:nvPr/>
        </p:nvSpPr>
        <p:spPr>
          <a:xfrm>
            <a:off x="548640" y="2240280"/>
            <a:ext cx="6583680" cy="35661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9"/>
          <p:cNvSpPr txBox="1"/>
          <p:nvPr/>
        </p:nvSpPr>
        <p:spPr>
          <a:xfrm>
            <a:off x="777240" y="2423160"/>
            <a:ext cx="6126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Example questions</a:t>
            </a:r>
            <a:endParaRPr/>
          </a:p>
        </p:txBody>
      </p:sp>
      <p:sp>
        <p:nvSpPr>
          <p:cNvPr id="306" name="Google Shape;306;p19"/>
          <p:cNvSpPr/>
          <p:nvPr/>
        </p:nvSpPr>
        <p:spPr>
          <a:xfrm>
            <a:off x="777240" y="2880360"/>
            <a:ext cx="6126480" cy="502920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9"/>
          <p:cNvSpPr txBox="1"/>
          <p:nvPr/>
        </p:nvSpPr>
        <p:spPr>
          <a:xfrm>
            <a:off x="960120" y="2880360"/>
            <a:ext cx="5806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 Which 5 territories have the lowest 90-day HCP reach rate?</a:t>
            </a:r>
            <a:endParaRPr/>
          </a:p>
        </p:txBody>
      </p:sp>
      <p:sp>
        <p:nvSpPr>
          <p:cNvPr id="308" name="Google Shape;308;p19"/>
          <p:cNvSpPr/>
          <p:nvPr/>
        </p:nvSpPr>
        <p:spPr>
          <a:xfrm>
            <a:off x="777240" y="3483864"/>
            <a:ext cx="6126480" cy="502920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9"/>
          <p:cNvSpPr txBox="1"/>
          <p:nvPr/>
        </p:nvSpPr>
        <p:spPr>
          <a:xfrm>
            <a:off x="960120" y="3483864"/>
            <a:ext cx="5806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 Which high-priority KOLs are under-engaged and overdue for an MSL visit?</a:t>
            </a:r>
            <a:endParaRPr/>
          </a:p>
        </p:txBody>
      </p:sp>
      <p:sp>
        <p:nvSpPr>
          <p:cNvPr id="310" name="Google Shape;310;p19"/>
          <p:cNvSpPr/>
          <p:nvPr/>
        </p:nvSpPr>
        <p:spPr>
          <a:xfrm>
            <a:off x="777240" y="4087368"/>
            <a:ext cx="6126480" cy="502920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9"/>
          <p:cNvSpPr txBox="1"/>
          <p:nvPr/>
        </p:nvSpPr>
        <p:spPr>
          <a:xfrm>
            <a:off x="960120" y="4087368"/>
            <a:ext cx="5806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 Show medical inquiries overdue against SLA, by product.</a:t>
            </a:r>
            <a:endParaRPr/>
          </a:p>
        </p:txBody>
      </p:sp>
      <p:sp>
        <p:nvSpPr>
          <p:cNvPr id="312" name="Google Shape;312;p19"/>
          <p:cNvSpPr/>
          <p:nvPr/>
        </p:nvSpPr>
        <p:spPr>
          <a:xfrm>
            <a:off x="777240" y="4690872"/>
            <a:ext cx="6126480" cy="502920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9"/>
          <p:cNvSpPr txBox="1"/>
          <p:nvPr/>
        </p:nvSpPr>
        <p:spPr>
          <a:xfrm>
            <a:off x="960120" y="4690872"/>
            <a:ext cx="5806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 What are the top scientific topics of interest across oncology KOLs?</a:t>
            </a:r>
            <a:endParaRPr/>
          </a:p>
        </p:txBody>
      </p:sp>
      <p:sp>
        <p:nvSpPr>
          <p:cNvPr id="314" name="Google Shape;314;p19"/>
          <p:cNvSpPr/>
          <p:nvPr/>
        </p:nvSpPr>
        <p:spPr>
          <a:xfrm>
            <a:off x="777240" y="5294376"/>
            <a:ext cx="6126480" cy="502920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9"/>
          <p:cNvSpPr txBox="1"/>
          <p:nvPr/>
        </p:nvSpPr>
        <p:spPr>
          <a:xfrm>
            <a:off x="960120" y="5294376"/>
            <a:ext cx="5806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 List Tier 1 KOLs with open inquiries about Safety / ILD Management.</a:t>
            </a:r>
            <a:endParaRPr/>
          </a:p>
        </p:txBody>
      </p:sp>
      <p:sp>
        <p:nvSpPr>
          <p:cNvPr id="316" name="Google Shape;316;p19"/>
          <p:cNvSpPr/>
          <p:nvPr/>
        </p:nvSpPr>
        <p:spPr>
          <a:xfrm>
            <a:off x="7360920" y="2240280"/>
            <a:ext cx="4279392" cy="3566160"/>
          </a:xfrm>
          <a:prstGeom prst="roundRect">
            <a:avLst>
              <a:gd fmla="val 16667" name="adj"/>
            </a:avLst>
          </a:prstGeom>
          <a:solidFill>
            <a:srgbClr val="F4F6F9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9"/>
          <p:cNvSpPr txBox="1"/>
          <p:nvPr/>
        </p:nvSpPr>
        <p:spPr>
          <a:xfrm>
            <a:off x="7589520" y="242316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Why it matters</a:t>
            </a:r>
            <a:endParaRPr/>
          </a:p>
        </p:txBody>
      </p:sp>
      <p:sp>
        <p:nvSpPr>
          <p:cNvPr id="318" name="Google Shape;318;p19"/>
          <p:cNvSpPr txBox="1"/>
          <p:nvPr/>
        </p:nvSpPr>
        <p:spPr>
          <a:xfrm>
            <a:off x="7589520" y="2880360"/>
            <a:ext cx="384048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●  </a:t>
            </a: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Governed by Unity Catalog — answers respect the same permissions as everything else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●  </a:t>
            </a: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Runs on the curated Gold tables &amp; metric views — consistent definitions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●  </a:t>
            </a: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Trusted metrics: KPIs come from metric_hcp_engagement &amp; metric_medical_inquiries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●  </a:t>
            </a: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Democratizes access for non-technical medical stakeholders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●  </a:t>
            </a: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Transparent — shows the generated SQL behind every answer</a:t>
            </a:r>
            <a:endParaRPr/>
          </a:p>
        </p:txBody>
      </p:sp>
      <p:sp>
        <p:nvSpPr>
          <p:cNvPr id="319" name="Google Shape;319;p19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CONSUMPTION · CURATED ANALYTICS</a:t>
            </a:r>
            <a:endParaRPr/>
          </a:p>
        </p:txBody>
      </p:sp>
      <p:sp>
        <p:nvSpPr>
          <p:cNvPr id="326" name="Google Shape;326;p20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AI/BI dashboard: the omnichannel command center</a:t>
            </a:r>
            <a:endParaRPr/>
          </a:p>
        </p:txBody>
      </p:sp>
      <p:sp>
        <p:nvSpPr>
          <p:cNvPr id="327" name="Google Shape;327;p20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09</a:t>
            </a:r>
            <a:endParaRPr/>
          </a:p>
        </p:txBody>
      </p:sp>
      <p:sp>
        <p:nvSpPr>
          <p:cNvPr id="328" name="Google Shape;328;p20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0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curated, always-on view of Medical Affairs engagement — 6 KPIs, reach by territory, topic interest, inquiry SLAs, priority tiers and the next-best-engagement queue — built on the same governed Gold tables and metric views that power Genie and the app.</a:t>
            </a:r>
            <a:endParaRPr/>
          </a:p>
        </p:txBody>
      </p:sp>
      <p:sp>
        <p:nvSpPr>
          <p:cNvPr id="330" name="Google Shape;330;p20"/>
          <p:cNvSpPr/>
          <p:nvPr/>
        </p:nvSpPr>
        <p:spPr>
          <a:xfrm>
            <a:off x="548640" y="2286000"/>
            <a:ext cx="356616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0"/>
          <p:cNvSpPr/>
          <p:nvPr/>
        </p:nvSpPr>
        <p:spPr>
          <a:xfrm>
            <a:off x="548640" y="2286000"/>
            <a:ext cx="128016" cy="1508760"/>
          </a:xfrm>
          <a:prstGeom prst="roundRect">
            <a:avLst>
              <a:gd fmla="val 16667" name="adj"/>
            </a:avLst>
          </a:prstGeom>
          <a:solidFill>
            <a:srgbClr val="1224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0"/>
          <p:cNvSpPr txBox="1"/>
          <p:nvPr/>
        </p:nvSpPr>
        <p:spPr>
          <a:xfrm>
            <a:off x="868680" y="248716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HCP 360</a:t>
            </a:r>
            <a:endParaRPr/>
          </a:p>
        </p:txBody>
      </p:sp>
      <p:sp>
        <p:nvSpPr>
          <p:cNvPr id="333" name="Google Shape;333;p20"/>
          <p:cNvSpPr txBox="1"/>
          <p:nvPr/>
        </p:nvSpPr>
        <p:spPr>
          <a:xfrm>
            <a:off x="868680" y="2944368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Unified profile,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engagement &amp; interest</a:t>
            </a:r>
            <a:endParaRPr/>
          </a:p>
        </p:txBody>
      </p:sp>
      <p:sp>
        <p:nvSpPr>
          <p:cNvPr id="334" name="Google Shape;334;p20"/>
          <p:cNvSpPr/>
          <p:nvPr/>
        </p:nvSpPr>
        <p:spPr>
          <a:xfrm>
            <a:off x="4297680" y="2286000"/>
            <a:ext cx="356616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0"/>
          <p:cNvSpPr/>
          <p:nvPr/>
        </p:nvSpPr>
        <p:spPr>
          <a:xfrm>
            <a:off x="4297680" y="2286000"/>
            <a:ext cx="128016" cy="1508760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0"/>
          <p:cNvSpPr txBox="1"/>
          <p:nvPr/>
        </p:nvSpPr>
        <p:spPr>
          <a:xfrm>
            <a:off x="4617720" y="248716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Priority &amp; segments</a:t>
            </a:r>
            <a:endParaRPr/>
          </a:p>
        </p:txBody>
      </p:sp>
      <p:sp>
        <p:nvSpPr>
          <p:cNvPr id="337" name="Google Shape;337;p20"/>
          <p:cNvSpPr txBox="1"/>
          <p:nvPr/>
        </p:nvSpPr>
        <p:spPr>
          <a:xfrm>
            <a:off x="4617720" y="2944368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MSL priority score,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under-engaged flags</a:t>
            </a:r>
            <a:endParaRPr/>
          </a:p>
        </p:txBody>
      </p:sp>
      <p:sp>
        <p:nvSpPr>
          <p:cNvPr id="338" name="Google Shape;338;p20"/>
          <p:cNvSpPr/>
          <p:nvPr/>
        </p:nvSpPr>
        <p:spPr>
          <a:xfrm>
            <a:off x="8046720" y="2286000"/>
            <a:ext cx="356616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0"/>
          <p:cNvSpPr/>
          <p:nvPr/>
        </p:nvSpPr>
        <p:spPr>
          <a:xfrm>
            <a:off x="8046720" y="2286000"/>
            <a:ext cx="128016" cy="1508760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0"/>
          <p:cNvSpPr txBox="1"/>
          <p:nvPr/>
        </p:nvSpPr>
        <p:spPr>
          <a:xfrm>
            <a:off x="8366760" y="248716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Topic interest</a:t>
            </a:r>
            <a:endParaRPr/>
          </a:p>
        </p:txBody>
      </p:sp>
      <p:sp>
        <p:nvSpPr>
          <p:cNvPr id="341" name="Google Shape;341;p20"/>
          <p:cNvSpPr txBox="1"/>
          <p:nvPr/>
        </p:nvSpPr>
        <p:spPr>
          <a:xfrm>
            <a:off x="8366760" y="2944368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Emerging scientific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topics over time</a:t>
            </a:r>
            <a:endParaRPr/>
          </a:p>
        </p:txBody>
      </p:sp>
      <p:sp>
        <p:nvSpPr>
          <p:cNvPr id="342" name="Google Shape;342;p20"/>
          <p:cNvSpPr/>
          <p:nvPr/>
        </p:nvSpPr>
        <p:spPr>
          <a:xfrm>
            <a:off x="548640" y="3977640"/>
            <a:ext cx="356616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0"/>
          <p:cNvSpPr/>
          <p:nvPr/>
        </p:nvSpPr>
        <p:spPr>
          <a:xfrm>
            <a:off x="548640" y="3977640"/>
            <a:ext cx="128016" cy="1508760"/>
          </a:xfrm>
          <a:prstGeom prst="roundRect">
            <a:avLst>
              <a:gd fmla="val 16667" name="adj"/>
            </a:avLst>
          </a:prstGeom>
          <a:solidFill>
            <a:srgbClr val="D982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0"/>
          <p:cNvSpPr txBox="1"/>
          <p:nvPr/>
        </p:nvSpPr>
        <p:spPr>
          <a:xfrm>
            <a:off x="868680" y="417880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Inquiry SLAs</a:t>
            </a:r>
            <a:endParaRPr/>
          </a:p>
        </p:txBody>
      </p:sp>
      <p:sp>
        <p:nvSpPr>
          <p:cNvPr id="345" name="Google Shape;345;p20"/>
          <p:cNvSpPr txBox="1"/>
          <p:nvPr/>
        </p:nvSpPr>
        <p:spPr>
          <a:xfrm>
            <a:off x="868680" y="4636008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 times &amp;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overdue tracking</a:t>
            </a:r>
            <a:endParaRPr/>
          </a:p>
        </p:txBody>
      </p:sp>
      <p:sp>
        <p:nvSpPr>
          <p:cNvPr id="346" name="Google Shape;346;p20"/>
          <p:cNvSpPr/>
          <p:nvPr/>
        </p:nvSpPr>
        <p:spPr>
          <a:xfrm>
            <a:off x="4297680" y="3977640"/>
            <a:ext cx="356616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0"/>
          <p:cNvSpPr/>
          <p:nvPr/>
        </p:nvSpPr>
        <p:spPr>
          <a:xfrm>
            <a:off x="4297680" y="3977640"/>
            <a:ext cx="128016" cy="1508760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0"/>
          <p:cNvSpPr txBox="1"/>
          <p:nvPr/>
        </p:nvSpPr>
        <p:spPr>
          <a:xfrm>
            <a:off x="4617720" y="417880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Territory opportunity</a:t>
            </a:r>
            <a:endParaRPr/>
          </a:p>
        </p:txBody>
      </p:sp>
      <p:sp>
        <p:nvSpPr>
          <p:cNvPr id="349" name="Google Shape;349;p20"/>
          <p:cNvSpPr txBox="1"/>
          <p:nvPr/>
        </p:nvSpPr>
        <p:spPr>
          <a:xfrm>
            <a:off x="4617720" y="4636008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Reach rate &amp;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opportunity score</a:t>
            </a:r>
            <a:endParaRPr/>
          </a:p>
        </p:txBody>
      </p:sp>
      <p:sp>
        <p:nvSpPr>
          <p:cNvPr id="350" name="Google Shape;350;p20"/>
          <p:cNvSpPr/>
          <p:nvPr/>
        </p:nvSpPr>
        <p:spPr>
          <a:xfrm>
            <a:off x="8046720" y="3977640"/>
            <a:ext cx="356616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0"/>
          <p:cNvSpPr/>
          <p:nvPr/>
        </p:nvSpPr>
        <p:spPr>
          <a:xfrm>
            <a:off x="8046720" y="3977640"/>
            <a:ext cx="128016" cy="1508760"/>
          </a:xfrm>
          <a:prstGeom prst="roundRect">
            <a:avLst>
              <a:gd fmla="val 16667" name="adj"/>
            </a:avLst>
          </a:prstGeom>
          <a:solidFill>
            <a:srgbClr val="1F9D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0"/>
          <p:cNvSpPr txBox="1"/>
          <p:nvPr/>
        </p:nvSpPr>
        <p:spPr>
          <a:xfrm>
            <a:off x="8366760" y="417880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Congress engagement</a:t>
            </a:r>
            <a:endParaRPr/>
          </a:p>
        </p:txBody>
      </p:sp>
      <p:sp>
        <p:nvSpPr>
          <p:cNvPr id="353" name="Google Shape;353;p20"/>
          <p:cNvSpPr txBox="1"/>
          <p:nvPr/>
        </p:nvSpPr>
        <p:spPr>
          <a:xfrm>
            <a:off x="8366760" y="4636008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Sessions, booths,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distinct events</a:t>
            </a:r>
            <a:endParaRPr/>
          </a:p>
        </p:txBody>
      </p:sp>
      <p:sp>
        <p:nvSpPr>
          <p:cNvPr id="354" name="Google Shape;354;p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Same governed source as Genie &amp; the Copilot — build a metric once, trust it everywhere.</a:t>
            </a:r>
            <a:endParaRPr/>
          </a:p>
        </p:txBody>
      </p:sp>
      <p:sp>
        <p:nvSpPr>
          <p:cNvPr id="355" name="Google Shape;355;p20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1"/>
          <p:cNvSpPr txBox="1"/>
          <p:nvPr/>
        </p:nvSpPr>
        <p:spPr>
          <a:xfrm>
            <a:off x="548640" y="384048"/>
            <a:ext cx="1005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CONSUMPTION · </a:t>
            </a:r>
            <a:r>
              <a:rPr b="1" lang="en-US" sz="1200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CoPilot</a:t>
            </a:r>
            <a:endParaRPr/>
          </a:p>
        </p:txBody>
      </p:sp>
      <p:sp>
        <p:nvSpPr>
          <p:cNvPr id="362" name="Google Shape;362;p2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Engagement Copilot — the Databricks App</a:t>
            </a:r>
            <a:endParaRPr/>
          </a:p>
        </p:txBody>
      </p:sp>
      <p:sp>
        <p:nvSpPr>
          <p:cNvPr id="363" name="Google Shape;363;p21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64" name="Google Shape;364;p21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1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Select a KOL and get a pre-engagement briefing that unites analytics, AI, governed content, and a next-best action — the MSL's single prep screen. The action queue is served from Lakebase; review decisions are written back to Lakebase.</a:t>
            </a:r>
            <a:endParaRPr/>
          </a:p>
        </p:txBody>
      </p:sp>
      <p:sp>
        <p:nvSpPr>
          <p:cNvPr id="366" name="Google Shape;366;p21"/>
          <p:cNvSpPr/>
          <p:nvPr/>
        </p:nvSpPr>
        <p:spPr>
          <a:xfrm>
            <a:off x="548640" y="2148840"/>
            <a:ext cx="11091672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1"/>
          <p:cNvSpPr/>
          <p:nvPr/>
        </p:nvSpPr>
        <p:spPr>
          <a:xfrm>
            <a:off x="548640" y="2148840"/>
            <a:ext cx="822960" cy="822960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1"/>
          <p:cNvSpPr txBox="1"/>
          <p:nvPr/>
        </p:nvSpPr>
        <p:spPr>
          <a:xfrm>
            <a:off x="548640" y="2148840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9" name="Google Shape;369;p21"/>
          <p:cNvSpPr txBox="1"/>
          <p:nvPr/>
        </p:nvSpPr>
        <p:spPr>
          <a:xfrm>
            <a:off x="1600200" y="2258568"/>
            <a:ext cx="2926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Select an HCP</a:t>
            </a:r>
            <a:endParaRPr/>
          </a:p>
        </p:txBody>
      </p:sp>
      <p:sp>
        <p:nvSpPr>
          <p:cNvPr id="370" name="Google Shape;370;p21"/>
          <p:cNvSpPr txBox="1"/>
          <p:nvPr/>
        </p:nvSpPr>
        <p:spPr>
          <a:xfrm>
            <a:off x="4526280" y="2240280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Prioritized queue served from Lakebase — highest MSL priority score first.</a:t>
            </a:r>
            <a:endParaRPr/>
          </a:p>
        </p:txBody>
      </p:sp>
      <p:sp>
        <p:nvSpPr>
          <p:cNvPr id="371" name="Google Shape;371;p21"/>
          <p:cNvSpPr/>
          <p:nvPr/>
        </p:nvSpPr>
        <p:spPr>
          <a:xfrm>
            <a:off x="548640" y="3099816"/>
            <a:ext cx="11091672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1"/>
          <p:cNvSpPr/>
          <p:nvPr/>
        </p:nvSpPr>
        <p:spPr>
          <a:xfrm>
            <a:off x="548640" y="3099816"/>
            <a:ext cx="822960" cy="822960"/>
          </a:xfrm>
          <a:prstGeom prst="roundRect">
            <a:avLst>
              <a:gd fmla="val 16667" name="adj"/>
            </a:avLst>
          </a:prstGeom>
          <a:solidFill>
            <a:srgbClr val="1224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1"/>
          <p:cNvSpPr txBox="1"/>
          <p:nvPr/>
        </p:nvSpPr>
        <p:spPr>
          <a:xfrm>
            <a:off x="548640" y="3099816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4" name="Google Shape;374;p21"/>
          <p:cNvSpPr txBox="1"/>
          <p:nvPr/>
        </p:nvSpPr>
        <p:spPr>
          <a:xfrm>
            <a:off x="1600200" y="3209544"/>
            <a:ext cx="2926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Unified HCP 360</a:t>
            </a:r>
            <a:endParaRPr/>
          </a:p>
        </p:txBody>
      </p:sp>
      <p:sp>
        <p:nvSpPr>
          <p:cNvPr id="375" name="Google Shape;375;p21"/>
          <p:cNvSpPr txBox="1"/>
          <p:nvPr/>
        </p:nvSpPr>
        <p:spPr>
          <a:xfrm>
            <a:off x="4526280" y="3191256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Profile, recent interactions, top scientific interests, inquiries, congress, publications, content already shared, open follow-ups.</a:t>
            </a:r>
            <a:endParaRPr/>
          </a:p>
        </p:txBody>
      </p:sp>
      <p:sp>
        <p:nvSpPr>
          <p:cNvPr id="376" name="Google Shape;376;p21"/>
          <p:cNvSpPr/>
          <p:nvPr/>
        </p:nvSpPr>
        <p:spPr>
          <a:xfrm>
            <a:off x="548640" y="4050792"/>
            <a:ext cx="11091672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1"/>
          <p:cNvSpPr/>
          <p:nvPr/>
        </p:nvSpPr>
        <p:spPr>
          <a:xfrm>
            <a:off x="548640" y="4050792"/>
            <a:ext cx="822960" cy="822960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1"/>
          <p:cNvSpPr txBox="1"/>
          <p:nvPr/>
        </p:nvSpPr>
        <p:spPr>
          <a:xfrm>
            <a:off x="548640" y="4050792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9" name="Google Shape;379;p21"/>
          <p:cNvSpPr txBox="1"/>
          <p:nvPr/>
        </p:nvSpPr>
        <p:spPr>
          <a:xfrm>
            <a:off x="1600200" y="4160520"/>
            <a:ext cx="2926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briefing</a:t>
            </a:r>
            <a:endParaRPr/>
          </a:p>
        </p:txBody>
      </p:sp>
      <p:sp>
        <p:nvSpPr>
          <p:cNvPr id="380" name="Google Shape;380;p21"/>
          <p:cNvSpPr txBox="1"/>
          <p:nvPr/>
        </p:nvSpPr>
        <p:spPr>
          <a:xfrm>
            <a:off x="4526280" y="4142232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3–4 sentence narrative via ai_query(), grounded ONLY in that HCP's structured context — factual, non-promotional.</a:t>
            </a:r>
            <a:endParaRPr/>
          </a:p>
        </p:txBody>
      </p:sp>
      <p:sp>
        <p:nvSpPr>
          <p:cNvPr id="381" name="Google Shape;381;p21"/>
          <p:cNvSpPr/>
          <p:nvPr/>
        </p:nvSpPr>
        <p:spPr>
          <a:xfrm>
            <a:off x="548640" y="5001768"/>
            <a:ext cx="11091672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1"/>
          <p:cNvSpPr/>
          <p:nvPr/>
        </p:nvSpPr>
        <p:spPr>
          <a:xfrm>
            <a:off x="548640" y="5001768"/>
            <a:ext cx="822960" cy="822960"/>
          </a:xfrm>
          <a:prstGeom prst="roundRect">
            <a:avLst>
              <a:gd fmla="val 16667" name="adj"/>
            </a:avLst>
          </a:prstGeom>
          <a:solidFill>
            <a:srgbClr val="1F9D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1"/>
          <p:cNvSpPr txBox="1"/>
          <p:nvPr/>
        </p:nvSpPr>
        <p:spPr>
          <a:xfrm>
            <a:off x="548640" y="5001768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84" name="Google Shape;384;p21"/>
          <p:cNvSpPr txBox="1"/>
          <p:nvPr/>
        </p:nvSpPr>
        <p:spPr>
          <a:xfrm>
            <a:off x="1600200" y="5111496"/>
            <a:ext cx="2926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Plan, approved content + Lakebase write-back</a:t>
            </a:r>
            <a:endParaRPr/>
          </a:p>
        </p:txBody>
      </p:sp>
      <p:sp>
        <p:nvSpPr>
          <p:cNvPr id="385" name="Google Shape;385;p21"/>
          <p:cNvSpPr txBox="1"/>
          <p:nvPr/>
        </p:nvSpPr>
        <p:spPr>
          <a:xfrm>
            <a:off x="4526280" y="5093208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Objective, topic, channel, timing — plus an approved asset (with med review ID). The MSL logs the decision, written back transactionally to Lakebase. Requires MSL review.</a:t>
            </a:r>
            <a:endParaRPr/>
          </a:p>
        </p:txBody>
      </p:sp>
      <p:sp>
        <p:nvSpPr>
          <p:cNvPr id="386" name="Google Shape;386;p21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Runs as a Databricks App (service-principal auth, no hardcoded tokens) reading governed Gold over serverless SQL and the Lakebase MSL action queue.</a:t>
            </a:r>
            <a:endParaRPr/>
          </a:p>
        </p:txBody>
      </p:sp>
      <p:sp>
        <p:nvSpPr>
          <p:cNvPr id="387" name="Google Shape;387;p21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2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2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WHY IT MATTERS</a:t>
            </a:r>
            <a:endParaRPr/>
          </a:p>
        </p:txBody>
      </p:sp>
      <p:sp>
        <p:nvSpPr>
          <p:cNvPr id="394" name="Google Shape;394;p2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Impact in your KPIs — baseline → target</a:t>
            </a:r>
            <a:endParaRPr/>
          </a:p>
        </p:txBody>
      </p:sp>
      <p:sp>
        <p:nvSpPr>
          <p:cNvPr id="395" name="Google Shape;395;p22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96" name="Google Shape;396;p22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2"/>
          <p:cNvSpPr/>
          <p:nvPr/>
        </p:nvSpPr>
        <p:spPr>
          <a:xfrm>
            <a:off x="548640" y="1691640"/>
            <a:ext cx="269748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2"/>
          <p:cNvSpPr/>
          <p:nvPr/>
        </p:nvSpPr>
        <p:spPr>
          <a:xfrm>
            <a:off x="548640" y="1691640"/>
            <a:ext cx="2697480" cy="109728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2"/>
          <p:cNvSpPr txBox="1"/>
          <p:nvPr/>
        </p:nvSpPr>
        <p:spPr>
          <a:xfrm>
            <a:off x="548640" y="1965960"/>
            <a:ext cx="2697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D5B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Reach</a:t>
            </a:r>
            <a:endParaRPr/>
          </a:p>
        </p:txBody>
      </p:sp>
      <p:sp>
        <p:nvSpPr>
          <p:cNvPr id="400" name="Google Shape;400;p22"/>
          <p:cNvSpPr txBox="1"/>
          <p:nvPr/>
        </p:nvSpPr>
        <p:spPr>
          <a:xfrm>
            <a:off x="548640" y="2606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62% → 80%</a:t>
            </a:r>
            <a:endParaRPr/>
          </a:p>
        </p:txBody>
      </p:sp>
      <p:sp>
        <p:nvSpPr>
          <p:cNvPr id="401" name="Google Shape;401;p22"/>
          <p:cNvSpPr txBox="1"/>
          <p:nvPr/>
        </p:nvSpPr>
        <p:spPr>
          <a:xfrm>
            <a:off x="777240" y="306324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Priority-KOL 90-day reach, lifted by under-engaged flags + priority score. ~$1.5M/yr.</a:t>
            </a:r>
            <a:endParaRPr/>
          </a:p>
        </p:txBody>
      </p:sp>
      <p:sp>
        <p:nvSpPr>
          <p:cNvPr id="402" name="Google Shape;402;p22"/>
          <p:cNvSpPr/>
          <p:nvPr/>
        </p:nvSpPr>
        <p:spPr>
          <a:xfrm>
            <a:off x="3355848" y="1691640"/>
            <a:ext cx="269748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2"/>
          <p:cNvSpPr/>
          <p:nvPr/>
        </p:nvSpPr>
        <p:spPr>
          <a:xfrm>
            <a:off x="3355848" y="1691640"/>
            <a:ext cx="2697480" cy="109728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2"/>
          <p:cNvSpPr txBox="1"/>
          <p:nvPr/>
        </p:nvSpPr>
        <p:spPr>
          <a:xfrm>
            <a:off x="3355848" y="1965960"/>
            <a:ext cx="2697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5B2D8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Speed</a:t>
            </a:r>
            <a:endParaRPr/>
          </a:p>
        </p:txBody>
      </p:sp>
      <p:sp>
        <p:nvSpPr>
          <p:cNvPr id="405" name="Google Shape;405;p22"/>
          <p:cNvSpPr txBox="1"/>
          <p:nvPr/>
        </p:nvSpPr>
        <p:spPr>
          <a:xfrm>
            <a:off x="3355848" y="2606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~2h → mins</a:t>
            </a:r>
            <a:endParaRPr/>
          </a:p>
        </p:txBody>
      </p:sp>
      <p:sp>
        <p:nvSpPr>
          <p:cNvPr id="406" name="Google Shape;406;p22"/>
          <p:cNvSpPr txBox="1"/>
          <p:nvPr/>
        </p:nvSpPr>
        <p:spPr>
          <a:xfrm>
            <a:off x="3584448" y="306324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MSL prep per engagement — AI briefing replaces manual context assembly. ~$1.3M/yr.</a:t>
            </a:r>
            <a:endParaRPr/>
          </a:p>
        </p:txBody>
      </p:sp>
      <p:sp>
        <p:nvSpPr>
          <p:cNvPr id="407" name="Google Shape;407;p22"/>
          <p:cNvSpPr/>
          <p:nvPr/>
        </p:nvSpPr>
        <p:spPr>
          <a:xfrm>
            <a:off x="6163056" y="1691640"/>
            <a:ext cx="269748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2"/>
          <p:cNvSpPr/>
          <p:nvPr/>
        </p:nvSpPr>
        <p:spPr>
          <a:xfrm>
            <a:off x="6163056" y="1691640"/>
            <a:ext cx="2697480" cy="109728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2"/>
          <p:cNvSpPr txBox="1"/>
          <p:nvPr/>
        </p:nvSpPr>
        <p:spPr>
          <a:xfrm>
            <a:off x="6163056" y="1965960"/>
            <a:ext cx="2697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Service</a:t>
            </a:r>
            <a:endParaRPr/>
          </a:p>
        </p:txBody>
      </p:sp>
      <p:sp>
        <p:nvSpPr>
          <p:cNvPr id="410" name="Google Shape;410;p22"/>
          <p:cNvSpPr txBox="1"/>
          <p:nvPr/>
        </p:nvSpPr>
        <p:spPr>
          <a:xfrm>
            <a:off x="6163056" y="2606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71% → 95%</a:t>
            </a:r>
            <a:endParaRPr/>
          </a:p>
        </p:txBody>
      </p:sp>
      <p:sp>
        <p:nvSpPr>
          <p:cNvPr id="411" name="Google Shape;411;p22"/>
          <p:cNvSpPr txBox="1"/>
          <p:nvPr/>
        </p:nvSpPr>
        <p:spPr>
          <a:xfrm>
            <a:off x="6391656" y="306324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Medical-inquiry SLA compliance — overdue items flagged by product. ~$0.6M/yr.</a:t>
            </a:r>
            <a:endParaRPr/>
          </a:p>
        </p:txBody>
      </p:sp>
      <p:sp>
        <p:nvSpPr>
          <p:cNvPr id="412" name="Google Shape;412;p22"/>
          <p:cNvSpPr/>
          <p:nvPr/>
        </p:nvSpPr>
        <p:spPr>
          <a:xfrm>
            <a:off x="8970264" y="1691640"/>
            <a:ext cx="269748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2"/>
          <p:cNvSpPr/>
          <p:nvPr/>
        </p:nvSpPr>
        <p:spPr>
          <a:xfrm>
            <a:off x="8970264" y="1691640"/>
            <a:ext cx="2697480" cy="109728"/>
          </a:xfrm>
          <a:prstGeom prst="roundRect">
            <a:avLst>
              <a:gd fmla="val 16667" name="adj"/>
            </a:avLst>
          </a:prstGeom>
          <a:solidFill>
            <a:srgbClr val="1F9D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2"/>
          <p:cNvSpPr txBox="1"/>
          <p:nvPr/>
        </p:nvSpPr>
        <p:spPr>
          <a:xfrm>
            <a:off x="8970264" y="1965960"/>
            <a:ext cx="2697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F9D5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Insight</a:t>
            </a:r>
            <a:endParaRPr/>
          </a:p>
        </p:txBody>
      </p:sp>
      <p:sp>
        <p:nvSpPr>
          <p:cNvPr id="415" name="Google Shape;415;p22"/>
          <p:cNvSpPr txBox="1"/>
          <p:nvPr/>
        </p:nvSpPr>
        <p:spPr>
          <a:xfrm>
            <a:off x="8970264" y="2606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 → 500+</a:t>
            </a:r>
            <a:endParaRPr/>
          </a:p>
        </p:txBody>
      </p:sp>
      <p:sp>
        <p:nvSpPr>
          <p:cNvPr id="416" name="Google Shape;416;p22"/>
          <p:cNvSpPr txBox="1"/>
          <p:nvPr/>
        </p:nvSpPr>
        <p:spPr>
          <a:xfrm>
            <a:off x="9198864" y="306324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Free-text MSL notes turned into queryable topic-interest signal.</a:t>
            </a:r>
            <a:endParaRPr/>
          </a:p>
        </p:txBody>
      </p:sp>
      <p:sp>
        <p:nvSpPr>
          <p:cNvPr id="417" name="Google Shape;417;p22"/>
          <p:cNvSpPr/>
          <p:nvPr/>
        </p:nvSpPr>
        <p:spPr>
          <a:xfrm>
            <a:off x="548640" y="4251960"/>
            <a:ext cx="11091672" cy="1737360"/>
          </a:xfrm>
          <a:prstGeom prst="roundRect">
            <a:avLst>
              <a:gd fmla="val 16667" name="adj"/>
            </a:avLst>
          </a:prstGeom>
          <a:solidFill>
            <a:srgbClr val="0B1733"/>
          </a:solidFill>
          <a:ln cap="flat" cmpd="sng" w="12700">
            <a:solidFill>
              <a:srgbClr val="0B1733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2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EC8E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ROI, quantified</a:t>
            </a:r>
            <a:endParaRPr/>
          </a:p>
        </p:txBody>
      </p:sp>
      <p:sp>
        <p:nvSpPr>
          <p:cNvPr id="419" name="Google Shape;419;p22"/>
          <p:cNvSpPr txBox="1"/>
          <p:nvPr/>
        </p:nvSpPr>
        <p:spPr>
          <a:xfrm>
            <a:off x="914400" y="4892040"/>
            <a:ext cx="10332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~$3.4M / year estimated for a 120-MSL field-medical org — faster prep, sharper prioritization and faster SLAs — on one governed Lakehouse, no data copies, one security model.</a:t>
            </a:r>
            <a:endParaRPr/>
          </a:p>
        </p:txBody>
      </p:sp>
      <p:sp>
        <p:nvSpPr>
          <p:cNvPr id="420" name="Google Shape;420;p22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2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0B17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77240" y="1188720"/>
            <a:ext cx="10515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Thank You</a:t>
            </a:r>
            <a:endParaRPr/>
          </a:p>
        </p:txBody>
      </p:sp>
      <p:sp>
        <p:nvSpPr>
          <p:cNvPr id="428" name="Google Shape;428;p23"/>
          <p:cNvSpPr/>
          <p:nvPr/>
        </p:nvSpPr>
        <p:spPr>
          <a:xfrm>
            <a:off x="822960" y="5989320"/>
            <a:ext cx="10515600" cy="17780"/>
          </a:xfrm>
          <a:prstGeom prst="rect">
            <a:avLst/>
          </a:prstGeom>
          <a:solidFill>
            <a:srgbClr val="2A3A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822960" y="617220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E9AA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 ·  Databricks Data Intelligence Platform  ·  adb-984752964297111 (Azure) · _sa701.moa  ·  synthetic demo data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4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TRUST BY DESIGN</a:t>
            </a: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Built for a regulated, non-promotional context</a:t>
            </a:r>
            <a:endParaRPr/>
          </a:p>
        </p:txBody>
      </p:sp>
      <p:sp>
        <p:nvSpPr>
          <p:cNvPr id="437" name="Google Shape;437;p24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38" name="Google Shape;438;p24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4"/>
          <p:cNvSpPr/>
          <p:nvPr/>
        </p:nvSpPr>
        <p:spPr>
          <a:xfrm>
            <a:off x="548640" y="1645920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DEF5E7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77240" y="18288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👤</a:t>
            </a:r>
            <a:endParaRPr/>
          </a:p>
        </p:txBody>
      </p:sp>
      <p:sp>
        <p:nvSpPr>
          <p:cNvPr id="441" name="Google Shape;441;p24"/>
          <p:cNvSpPr txBox="1"/>
          <p:nvPr/>
        </p:nvSpPr>
        <p:spPr>
          <a:xfrm>
            <a:off x="1463040" y="1874520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Human-in-the-loop</a:t>
            </a:r>
            <a:endParaRPr/>
          </a:p>
        </p:txBody>
      </p:sp>
      <p:sp>
        <p:nvSpPr>
          <p:cNvPr id="442" name="Google Shape;442;p24"/>
          <p:cNvSpPr txBox="1"/>
          <p:nvPr/>
        </p:nvSpPr>
        <p:spPr>
          <a:xfrm>
            <a:off x="804672" y="251460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Every AI output is a recommendation for MSL review — never an automated action or outreach.</a:t>
            </a:r>
            <a:endParaRPr/>
          </a:p>
        </p:txBody>
      </p:sp>
      <p:sp>
        <p:nvSpPr>
          <p:cNvPr id="443" name="Google Shape;443;p24"/>
          <p:cNvSpPr/>
          <p:nvPr/>
        </p:nvSpPr>
        <p:spPr>
          <a:xfrm>
            <a:off x="4288536" y="1645920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E4EC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4517136" y="18288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✅</a:t>
            </a:r>
            <a:endParaRPr/>
          </a:p>
        </p:txBody>
      </p:sp>
      <p:sp>
        <p:nvSpPr>
          <p:cNvPr id="445" name="Google Shape;445;p24"/>
          <p:cNvSpPr txBox="1"/>
          <p:nvPr/>
        </p:nvSpPr>
        <p:spPr>
          <a:xfrm>
            <a:off x="5202936" y="1874520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Only approved content</a:t>
            </a:r>
            <a:endParaRPr/>
          </a:p>
        </p:txBody>
      </p:sp>
      <p:sp>
        <p:nvSpPr>
          <p:cNvPr id="446" name="Google Shape;446;p24"/>
          <p:cNvSpPr txBox="1"/>
          <p:nvPr/>
        </p:nvSpPr>
        <p:spPr>
          <a:xfrm>
            <a:off x="4544568" y="251460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app surfaces medically-approved assets only, each with a med_review_id, and never re-shares what an HCP already has.</a:t>
            </a:r>
            <a:endParaRPr/>
          </a:p>
        </p:txBody>
      </p:sp>
      <p:sp>
        <p:nvSpPr>
          <p:cNvPr id="447" name="Google Shape;447;p24"/>
          <p:cNvSpPr/>
          <p:nvPr/>
        </p:nvSpPr>
        <p:spPr>
          <a:xfrm>
            <a:off x="8028432" y="1645920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EEE5F8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8257032" y="18288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🔒</a:t>
            </a:r>
            <a:endParaRPr/>
          </a:p>
        </p:txBody>
      </p:sp>
      <p:sp>
        <p:nvSpPr>
          <p:cNvPr id="449" name="Google Shape;449;p24"/>
          <p:cNvSpPr txBox="1"/>
          <p:nvPr/>
        </p:nvSpPr>
        <p:spPr>
          <a:xfrm>
            <a:off x="8942832" y="1874520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Unity Catalog governance</a:t>
            </a:r>
            <a:endParaRPr/>
          </a:p>
        </p:txBody>
      </p:sp>
      <p:sp>
        <p:nvSpPr>
          <p:cNvPr id="450" name="Google Shape;450;p24"/>
          <p:cNvSpPr txBox="1"/>
          <p:nvPr/>
        </p:nvSpPr>
        <p:spPr>
          <a:xfrm>
            <a:off x="8284464" y="251460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permission &amp; lineage model across tables, metrics, Genie, dashboard, Lakebase and the app — auditable end to end; enforced UC tag policies, npi classified PII.</a:t>
            </a:r>
            <a:endParaRPr/>
          </a:p>
        </p:txBody>
      </p:sp>
      <p:sp>
        <p:nvSpPr>
          <p:cNvPr id="451" name="Google Shape;451;p24"/>
          <p:cNvSpPr/>
          <p:nvPr/>
        </p:nvSpPr>
        <p:spPr>
          <a:xfrm>
            <a:off x="548640" y="3703319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FFF3D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4"/>
          <p:cNvSpPr txBox="1"/>
          <p:nvPr/>
        </p:nvSpPr>
        <p:spPr>
          <a:xfrm>
            <a:off x="777240" y="3886199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📎</a:t>
            </a:r>
            <a:endParaRPr/>
          </a:p>
        </p:txBody>
      </p:sp>
      <p:sp>
        <p:nvSpPr>
          <p:cNvPr id="453" name="Google Shape;453;p24"/>
          <p:cNvSpPr txBox="1"/>
          <p:nvPr/>
        </p:nvSpPr>
        <p:spPr>
          <a:xfrm>
            <a:off x="1463040" y="3931919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Grounded, non-promotional</a:t>
            </a:r>
            <a:endParaRPr/>
          </a:p>
        </p:txBody>
      </p:sp>
      <p:sp>
        <p:nvSpPr>
          <p:cNvPr id="454" name="Google Shape;454;p24"/>
          <p:cNvSpPr txBox="1"/>
          <p:nvPr/>
        </p:nvSpPr>
        <p:spPr>
          <a:xfrm>
            <a:off x="804672" y="4571999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Briefings are grounded ONLY in the HCP's structured context; prompt enforces factual, evidence-based, non-promotional tone.</a:t>
            </a:r>
            <a:endParaRPr/>
          </a:p>
        </p:txBody>
      </p:sp>
      <p:sp>
        <p:nvSpPr>
          <p:cNvPr id="455" name="Google Shape;455;p24"/>
          <p:cNvSpPr/>
          <p:nvPr/>
        </p:nvSpPr>
        <p:spPr>
          <a:xfrm>
            <a:off x="4288536" y="3703319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4"/>
          <p:cNvSpPr txBox="1"/>
          <p:nvPr/>
        </p:nvSpPr>
        <p:spPr>
          <a:xfrm>
            <a:off x="4517136" y="3886199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🧪</a:t>
            </a:r>
            <a:endParaRPr/>
          </a:p>
        </p:txBody>
      </p:sp>
      <p:sp>
        <p:nvSpPr>
          <p:cNvPr id="457" name="Google Shape;457;p24"/>
          <p:cNvSpPr txBox="1"/>
          <p:nvPr/>
        </p:nvSpPr>
        <p:spPr>
          <a:xfrm>
            <a:off x="5202936" y="3931919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Synthetic data</a:t>
            </a:r>
            <a:endParaRPr/>
          </a:p>
        </p:txBody>
      </p:sp>
      <p:sp>
        <p:nvSpPr>
          <p:cNvPr id="458" name="Google Shape;458;p24"/>
          <p:cNvSpPr txBox="1"/>
          <p:nvPr/>
        </p:nvSpPr>
        <p:spPr>
          <a:xfrm>
            <a:off x="4544568" y="4571999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entire demo runs on synthetic data — safe to show, no PII, no real patient or HCP information.</a:t>
            </a:r>
            <a:endParaRPr/>
          </a:p>
        </p:txBody>
      </p:sp>
      <p:sp>
        <p:nvSpPr>
          <p:cNvPr id="459" name="Google Shape;459;p24"/>
          <p:cNvSpPr/>
          <p:nvPr/>
        </p:nvSpPr>
        <p:spPr>
          <a:xfrm>
            <a:off x="8028432" y="3703319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F4F6F9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24"/>
          <p:cNvSpPr txBox="1"/>
          <p:nvPr/>
        </p:nvSpPr>
        <p:spPr>
          <a:xfrm>
            <a:off x="8257032" y="3886199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📊</a:t>
            </a:r>
            <a:endParaRPr/>
          </a:p>
        </p:txBody>
      </p:sp>
      <p:sp>
        <p:nvSpPr>
          <p:cNvPr id="461" name="Google Shape;461;p24"/>
          <p:cNvSpPr txBox="1"/>
          <p:nvPr/>
        </p:nvSpPr>
        <p:spPr>
          <a:xfrm>
            <a:off x="8942832" y="3931919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source of truth</a:t>
            </a:r>
            <a:endParaRPr/>
          </a:p>
        </p:txBody>
      </p:sp>
      <p:sp>
        <p:nvSpPr>
          <p:cNvPr id="462" name="Google Shape;462;p24"/>
          <p:cNvSpPr txBox="1"/>
          <p:nvPr/>
        </p:nvSpPr>
        <p:spPr>
          <a:xfrm>
            <a:off x="8284464" y="4571999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Governed metric views mean the same KPI definition powers every surface — no conflicting numbers.</a:t>
            </a:r>
            <a:endParaRPr/>
          </a:p>
        </p:txBody>
      </p:sp>
      <p:sp>
        <p:nvSpPr>
          <p:cNvPr id="463" name="Google Shape;463;p24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92" name="Google Shape;392;p2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2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BUSINESS OUTCOME</a:t>
            </a:r>
            <a:endParaRPr/>
          </a:p>
        </p:txBody>
      </p:sp>
      <p:sp>
        <p:nvSpPr>
          <p:cNvPr id="394" name="Google Shape;394;p2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prepared, governed view of every KOL — ~$3.4M/year of impact</a:t>
            </a:r>
            <a:endParaRPr/>
          </a:p>
        </p:txBody>
      </p:sp>
      <p:sp>
        <p:nvSpPr>
          <p:cNvPr id="395" name="Google Shape;395;p22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02</a:t>
            </a:r>
            <a:endParaRPr/>
          </a:p>
        </p:txBody>
      </p:sp>
      <p:sp>
        <p:nvSpPr>
          <p:cNvPr id="396" name="Google Shape;396;p22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2"/>
          <p:cNvSpPr/>
          <p:nvPr/>
        </p:nvSpPr>
        <p:spPr>
          <a:xfrm>
            <a:off x="548640" y="1691640"/>
            <a:ext cx="269748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2"/>
          <p:cNvSpPr/>
          <p:nvPr/>
        </p:nvSpPr>
        <p:spPr>
          <a:xfrm>
            <a:off x="548640" y="1691640"/>
            <a:ext cx="2697480" cy="109728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2"/>
          <p:cNvSpPr txBox="1"/>
          <p:nvPr/>
        </p:nvSpPr>
        <p:spPr>
          <a:xfrm>
            <a:off x="548640" y="1965960"/>
            <a:ext cx="2697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D5B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360° KOL view</a:t>
            </a:r>
            <a:endParaRPr/>
          </a:p>
        </p:txBody>
      </p:sp>
      <p:sp>
        <p:nvSpPr>
          <p:cNvPr id="400" name="Google Shape;400;p22"/>
          <p:cNvSpPr txBox="1"/>
          <p:nvPr/>
        </p:nvSpPr>
        <p:spPr>
          <a:xfrm>
            <a:off x="548640" y="2606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unified signal</a:t>
            </a:r>
            <a:endParaRPr/>
          </a:p>
        </p:txBody>
      </p:sp>
      <p:sp>
        <p:nvSpPr>
          <p:cNvPr id="401" name="Google Shape;401;p22"/>
          <p:cNvSpPr txBox="1"/>
          <p:nvPr/>
        </p:nvSpPr>
        <p:spPr>
          <a:xfrm>
            <a:off x="777240" y="306324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MSL notes, inquiries, congress, digital, pubs &amp; trials in one governed profile.</a:t>
            </a:r>
            <a:endParaRPr/>
          </a:p>
        </p:txBody>
      </p:sp>
      <p:sp>
        <p:nvSpPr>
          <p:cNvPr id="402" name="Google Shape;402;p22"/>
          <p:cNvSpPr/>
          <p:nvPr/>
        </p:nvSpPr>
        <p:spPr>
          <a:xfrm>
            <a:off x="3355848" y="1691640"/>
            <a:ext cx="269748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2"/>
          <p:cNvSpPr/>
          <p:nvPr/>
        </p:nvSpPr>
        <p:spPr>
          <a:xfrm>
            <a:off x="3355848" y="1691640"/>
            <a:ext cx="2697480" cy="109728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2"/>
          <p:cNvSpPr txBox="1"/>
          <p:nvPr/>
        </p:nvSpPr>
        <p:spPr>
          <a:xfrm>
            <a:off x="3355848" y="1965960"/>
            <a:ext cx="2697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5B2D8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Prepared MSLs</a:t>
            </a:r>
            <a:endParaRPr/>
          </a:p>
        </p:txBody>
      </p:sp>
      <p:sp>
        <p:nvSpPr>
          <p:cNvPr id="405" name="Google Shape;405;p22"/>
          <p:cNvSpPr txBox="1"/>
          <p:nvPr/>
        </p:nvSpPr>
        <p:spPr>
          <a:xfrm>
            <a:off x="3355848" y="2606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minutes, not hours</a:t>
            </a:r>
            <a:endParaRPr/>
          </a:p>
        </p:txBody>
      </p:sp>
      <p:sp>
        <p:nvSpPr>
          <p:cNvPr id="406" name="Google Shape;406;p22"/>
          <p:cNvSpPr txBox="1"/>
          <p:nvPr/>
        </p:nvSpPr>
        <p:spPr>
          <a:xfrm>
            <a:off x="3584448" y="306324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pre-engagement briefing + next-best action for every KOL visit.</a:t>
            </a:r>
            <a:endParaRPr/>
          </a:p>
        </p:txBody>
      </p:sp>
      <p:sp>
        <p:nvSpPr>
          <p:cNvPr id="407" name="Google Shape;407;p22"/>
          <p:cNvSpPr/>
          <p:nvPr/>
        </p:nvSpPr>
        <p:spPr>
          <a:xfrm>
            <a:off x="6163056" y="1691640"/>
            <a:ext cx="269748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2"/>
          <p:cNvSpPr/>
          <p:nvPr/>
        </p:nvSpPr>
        <p:spPr>
          <a:xfrm>
            <a:off x="6163056" y="1691640"/>
            <a:ext cx="2697480" cy="109728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2"/>
          <p:cNvSpPr txBox="1"/>
          <p:nvPr/>
        </p:nvSpPr>
        <p:spPr>
          <a:xfrm>
            <a:off x="6163056" y="1965960"/>
            <a:ext cx="2697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Governed &amp; safe</a:t>
            </a:r>
            <a:endParaRPr/>
          </a:p>
        </p:txBody>
      </p:sp>
      <p:sp>
        <p:nvSpPr>
          <p:cNvPr id="410" name="Google Shape;410;p22"/>
          <p:cNvSpPr txBox="1"/>
          <p:nvPr/>
        </p:nvSpPr>
        <p:spPr>
          <a:xfrm>
            <a:off x="6163056" y="2606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audit-ready</a:t>
            </a:r>
            <a:endParaRPr/>
          </a:p>
        </p:txBody>
      </p:sp>
      <p:sp>
        <p:nvSpPr>
          <p:cNvPr id="411" name="Google Shape;411;p22"/>
          <p:cNvSpPr txBox="1"/>
          <p:nvPr/>
        </p:nvSpPr>
        <p:spPr>
          <a:xfrm>
            <a:off x="6391656" y="306324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Non-promotional, human-in-the-loop, one Unity Catalog security model.</a:t>
            </a:r>
            <a:endParaRPr/>
          </a:p>
        </p:txBody>
      </p:sp>
      <p:sp>
        <p:nvSpPr>
          <p:cNvPr id="412" name="Google Shape;412;p22"/>
          <p:cNvSpPr/>
          <p:nvPr/>
        </p:nvSpPr>
        <p:spPr>
          <a:xfrm>
            <a:off x="8970264" y="1691640"/>
            <a:ext cx="269748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2"/>
          <p:cNvSpPr/>
          <p:nvPr/>
        </p:nvSpPr>
        <p:spPr>
          <a:xfrm>
            <a:off x="8970264" y="1691640"/>
            <a:ext cx="2697480" cy="109728"/>
          </a:xfrm>
          <a:prstGeom prst="roundRect">
            <a:avLst>
              <a:gd fmla="val 16667" name="adj"/>
            </a:avLst>
          </a:prstGeom>
          <a:solidFill>
            <a:srgbClr val="1F9D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2"/>
          <p:cNvSpPr txBox="1"/>
          <p:nvPr/>
        </p:nvSpPr>
        <p:spPr>
          <a:xfrm>
            <a:off x="8970264" y="1965960"/>
            <a:ext cx="2697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F9D5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~$3.4M / yr</a:t>
            </a:r>
            <a:endParaRPr/>
          </a:p>
        </p:txBody>
      </p:sp>
      <p:sp>
        <p:nvSpPr>
          <p:cNvPr id="415" name="Google Shape;415;p22"/>
          <p:cNvSpPr txBox="1"/>
          <p:nvPr/>
        </p:nvSpPr>
        <p:spPr>
          <a:xfrm>
            <a:off x="8970264" y="2606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estimated value</a:t>
            </a:r>
            <a:endParaRPr/>
          </a:p>
        </p:txBody>
      </p:sp>
      <p:sp>
        <p:nvSpPr>
          <p:cNvPr id="416" name="Google Shape;416;p22"/>
          <p:cNvSpPr txBox="1"/>
          <p:nvPr/>
        </p:nvSpPr>
        <p:spPr>
          <a:xfrm>
            <a:off x="9198864" y="306324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For a 120-MSL field-medical org — KPI detail on the following slides.</a:t>
            </a:r>
            <a:endParaRPr/>
          </a:p>
        </p:txBody>
      </p:sp>
      <p:sp>
        <p:nvSpPr>
          <p:cNvPr id="417" name="Google Shape;417;p22"/>
          <p:cNvSpPr/>
          <p:nvPr/>
        </p:nvSpPr>
        <p:spPr>
          <a:xfrm>
            <a:off x="548640" y="4251960"/>
            <a:ext cx="11091672" cy="1737360"/>
          </a:xfrm>
          <a:prstGeom prst="roundRect">
            <a:avLst>
              <a:gd fmla="val 16667" name="adj"/>
            </a:avLst>
          </a:prstGeom>
          <a:solidFill>
            <a:srgbClr val="0B1733"/>
          </a:solidFill>
          <a:ln cap="flat" cmpd="sng" w="12700">
            <a:solidFill>
              <a:srgbClr val="0B1733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2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EC8E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For the sponsor and the field</a:t>
            </a:r>
            <a:endParaRPr/>
          </a:p>
        </p:txBody>
      </p:sp>
      <p:sp>
        <p:nvSpPr>
          <p:cNvPr id="419" name="Google Shape;419;p22"/>
          <p:cNvSpPr txBox="1"/>
          <p:nvPr/>
        </p:nvSpPr>
        <p:spPr>
          <a:xfrm>
            <a:off x="914400" y="4892040"/>
            <a:ext cx="10332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Executive sponsor (VP Medical Affairs): quantified ROI, faster inquiry SLAs, and audit-ready Unity Catalog governance for a regulated, non-promotional function.   Domain owner (field-medical lead): every MSL arrives prepared, prioritized, and armed with approved content.</a:t>
            </a:r>
            <a:endParaRPr/>
          </a:p>
        </p:txBody>
      </p:sp>
      <p:sp>
        <p:nvSpPr>
          <p:cNvPr id="420" name="Google Shape;420;p22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4" name="Google Shape;434;p24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4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DECISIONS &amp; TRADE-OFFS</a:t>
            </a: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Why this approach — and what we consciously traded</a:t>
            </a:r>
            <a:endParaRPr/>
          </a:p>
        </p:txBody>
      </p:sp>
      <p:sp>
        <p:nvSpPr>
          <p:cNvPr id="437" name="Google Shape;437;p24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38" name="Google Shape;438;p24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4"/>
          <p:cNvSpPr/>
          <p:nvPr/>
        </p:nvSpPr>
        <p:spPr>
          <a:xfrm>
            <a:off x="548640" y="1645920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DEF5E7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77240" y="18288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🗄️</a:t>
            </a:r>
            <a:endParaRPr/>
          </a:p>
        </p:txBody>
      </p:sp>
      <p:sp>
        <p:nvSpPr>
          <p:cNvPr id="441" name="Google Shape;441;p24"/>
          <p:cNvSpPr txBox="1"/>
          <p:nvPr/>
        </p:nvSpPr>
        <p:spPr>
          <a:xfrm>
            <a:off x="1463040" y="1874520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Lakebase for serving</a:t>
            </a:r>
            <a:endParaRPr/>
          </a:p>
        </p:txBody>
      </p:sp>
      <p:sp>
        <p:nvSpPr>
          <p:cNvPr id="442" name="Google Shape;442;p24"/>
          <p:cNvSpPr txBox="1"/>
          <p:nvPr/>
        </p:nvSpPr>
        <p:spPr>
          <a:xfrm>
            <a:off x="804672" y="251460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app needs single-row reads + transactional write-back — Delta Gold can't hit that latency. Trade-off: a small Postgres surface, synced from UC.</a:t>
            </a:r>
            <a:endParaRPr/>
          </a:p>
        </p:txBody>
      </p:sp>
      <p:sp>
        <p:nvSpPr>
          <p:cNvPr id="443" name="Google Shape;443;p24"/>
          <p:cNvSpPr/>
          <p:nvPr/>
        </p:nvSpPr>
        <p:spPr>
          <a:xfrm>
            <a:off x="4288536" y="1645920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E4EC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4517136" y="18288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🧠</a:t>
            </a:r>
            <a:endParaRPr/>
          </a:p>
        </p:txBody>
      </p:sp>
      <p:sp>
        <p:nvSpPr>
          <p:cNvPr id="445" name="Google Shape;445;p24"/>
          <p:cNvSpPr txBox="1"/>
          <p:nvPr/>
        </p:nvSpPr>
        <p:spPr>
          <a:xfrm>
            <a:off x="5202936" y="1874520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ai_query() in-pipeline</a:t>
            </a:r>
            <a:endParaRPr/>
          </a:p>
        </p:txBody>
      </p:sp>
      <p:sp>
        <p:nvSpPr>
          <p:cNvPr id="446" name="Google Shape;446;p24"/>
          <p:cNvSpPr txBox="1"/>
          <p:nvPr/>
        </p:nvSpPr>
        <p:spPr>
          <a:xfrm>
            <a:off x="4544568" y="251460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Extraction stays in governed SQL, no data egress. An external LLM API adds movement, cost &amp; compliance risk. Trade-off: hosted models only.</a:t>
            </a:r>
            <a:endParaRPr/>
          </a:p>
        </p:txBody>
      </p:sp>
      <p:sp>
        <p:nvSpPr>
          <p:cNvPr id="447" name="Google Shape;447;p24"/>
          <p:cNvSpPr/>
          <p:nvPr/>
        </p:nvSpPr>
        <p:spPr>
          <a:xfrm>
            <a:off x="8028432" y="1645920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EEE5F8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8257032" y="18288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</a:t>
            </a:r>
            <a:endParaRPr/>
          </a:p>
        </p:txBody>
      </p:sp>
      <p:sp>
        <p:nvSpPr>
          <p:cNvPr id="449" name="Google Shape;449;p24"/>
          <p:cNvSpPr txBox="1"/>
          <p:nvPr/>
        </p:nvSpPr>
        <p:spPr>
          <a:xfrm>
            <a:off x="8942832" y="1874520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Genie AND a dashboard</a:t>
            </a:r>
            <a:endParaRPr/>
          </a:p>
        </p:txBody>
      </p:sp>
      <p:sp>
        <p:nvSpPr>
          <p:cNvPr id="450" name="Google Shape;450;p24"/>
          <p:cNvSpPr txBox="1"/>
          <p:nvPr/>
        </p:nvSpPr>
        <p:spPr>
          <a:xfrm>
            <a:off x="8284464" y="251460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Genie for open-ended questions, AI/BI for always-on KPIs — same governed metrics. One alone under-serves either explorers or operators.</a:t>
            </a:r>
            <a:endParaRPr/>
          </a:p>
        </p:txBody>
      </p:sp>
      <p:sp>
        <p:nvSpPr>
          <p:cNvPr id="451" name="Google Shape;451;p24"/>
          <p:cNvSpPr/>
          <p:nvPr/>
        </p:nvSpPr>
        <p:spPr>
          <a:xfrm>
            <a:off x="548640" y="3703319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FFF3D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4"/>
          <p:cNvSpPr txBox="1"/>
          <p:nvPr/>
        </p:nvSpPr>
        <p:spPr>
          <a:xfrm>
            <a:off x="777240" y="3886199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🧬</a:t>
            </a:r>
            <a:endParaRPr/>
          </a:p>
        </p:txBody>
      </p:sp>
      <p:sp>
        <p:nvSpPr>
          <p:cNvPr id="453" name="Google Shape;453;p24"/>
          <p:cNvSpPr txBox="1"/>
          <p:nvPr/>
        </p:nvSpPr>
        <p:spPr>
          <a:xfrm>
            <a:off x="1463040" y="3931919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Llama 3.3 70B, hosted</a:t>
            </a:r>
            <a:endParaRPr/>
          </a:p>
        </p:txBody>
      </p:sp>
      <p:sp>
        <p:nvSpPr>
          <p:cNvPr id="454" name="Google Shape;454;p24"/>
          <p:cNvSpPr txBox="1"/>
          <p:nvPr/>
        </p:nvSpPr>
        <p:spPr>
          <a:xfrm>
            <a:off x="804672" y="4571999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In-workspace, no third-party data sharing, strong extraction. Trade-off: not the frontier model — ample for structured extraction.</a:t>
            </a:r>
            <a:endParaRPr/>
          </a:p>
        </p:txBody>
      </p:sp>
      <p:sp>
        <p:nvSpPr>
          <p:cNvPr id="455" name="Google Shape;455;p24"/>
          <p:cNvSpPr/>
          <p:nvPr/>
        </p:nvSpPr>
        <p:spPr>
          <a:xfrm>
            <a:off x="4288536" y="3703319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4"/>
          <p:cNvSpPr txBox="1"/>
          <p:nvPr/>
        </p:nvSpPr>
        <p:spPr>
          <a:xfrm>
            <a:off x="4517136" y="3886199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🔒</a:t>
            </a:r>
            <a:endParaRPr/>
          </a:p>
        </p:txBody>
      </p:sp>
      <p:sp>
        <p:nvSpPr>
          <p:cNvPr id="457" name="Google Shape;457;p24"/>
          <p:cNvSpPr txBox="1"/>
          <p:nvPr/>
        </p:nvSpPr>
        <p:spPr>
          <a:xfrm>
            <a:off x="5202936" y="3931919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UC schema</a:t>
            </a:r>
            <a:endParaRPr/>
          </a:p>
        </p:txBody>
      </p:sp>
      <p:sp>
        <p:nvSpPr>
          <p:cNvPr id="458" name="Google Shape;458;p24"/>
          <p:cNvSpPr txBox="1"/>
          <p:nvPr/>
        </p:nvSpPr>
        <p:spPr>
          <a:xfrm>
            <a:off x="4544568" y="4571999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single medallion, one lineage graph &amp; security model — vs. fragmented marts. Trade-off: tighter coordination on a shared schema.</a:t>
            </a:r>
            <a:endParaRPr/>
          </a:p>
        </p:txBody>
      </p:sp>
      <p:sp>
        <p:nvSpPr>
          <p:cNvPr id="459" name="Google Shape;459;p24"/>
          <p:cNvSpPr/>
          <p:nvPr/>
        </p:nvSpPr>
        <p:spPr>
          <a:xfrm>
            <a:off x="8028432" y="3703319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F4F6F9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24"/>
          <p:cNvSpPr txBox="1"/>
          <p:nvPr/>
        </p:nvSpPr>
        <p:spPr>
          <a:xfrm>
            <a:off x="8257032" y="3886199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🧪</a:t>
            </a:r>
            <a:endParaRPr/>
          </a:p>
        </p:txBody>
      </p:sp>
      <p:sp>
        <p:nvSpPr>
          <p:cNvPr id="461" name="Google Shape;461;p24"/>
          <p:cNvSpPr txBox="1"/>
          <p:nvPr/>
        </p:nvSpPr>
        <p:spPr>
          <a:xfrm>
            <a:off x="8942832" y="3931919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Synthetic data</a:t>
            </a:r>
            <a:endParaRPr/>
          </a:p>
        </p:txBody>
      </p:sp>
      <p:sp>
        <p:nvSpPr>
          <p:cNvPr id="462" name="Google Shape;462;p24"/>
          <p:cNvSpPr txBox="1"/>
          <p:nvPr/>
        </p:nvSpPr>
        <p:spPr>
          <a:xfrm>
            <a:off x="8284464" y="4571999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Safe, reproducible, no PHI/PII — vs. real data that blocks sharing. Trade-off: value figures are modeled estimates, not measured.</a:t>
            </a:r>
            <a:endParaRPr/>
          </a:p>
        </p:txBody>
      </p:sp>
      <p:sp>
        <p:nvSpPr>
          <p:cNvPr id="463" name="Google Shape;463;p24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4" name="Google Shape;434;p24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4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BUILT WITH AI</a:t>
            </a: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as a force multiplier — tools, prompts &amp; patterns</a:t>
            </a:r>
            <a:endParaRPr/>
          </a:p>
        </p:txBody>
      </p:sp>
      <p:sp>
        <p:nvSpPr>
          <p:cNvPr id="437" name="Google Shape;437;p24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38" name="Google Shape;438;p24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4"/>
          <p:cNvSpPr/>
          <p:nvPr/>
        </p:nvSpPr>
        <p:spPr>
          <a:xfrm>
            <a:off x="548640" y="1645920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DEF5E7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77240" y="18288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🤖</a:t>
            </a:r>
            <a:endParaRPr/>
          </a:p>
        </p:txBody>
      </p:sp>
      <p:sp>
        <p:nvSpPr>
          <p:cNvPr id="441" name="Google Shape;441;p24"/>
          <p:cNvSpPr txBox="1"/>
          <p:nvPr/>
        </p:nvSpPr>
        <p:spPr>
          <a:xfrm>
            <a:off x="1463040" y="1874520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Claude Code / Isaac</a:t>
            </a:r>
            <a:endParaRPr/>
          </a:p>
        </p:txBody>
      </p:sp>
      <p:sp>
        <p:nvSpPr>
          <p:cNvPr id="442" name="Google Shape;442;p24"/>
          <p:cNvSpPr txBox="1"/>
          <p:nvPr/>
        </p:nvSpPr>
        <p:spPr>
          <a:xfrm>
            <a:off x="804672" y="251460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 agentic AI teammate drove the build end to end — provisioning, code and this deck — not just autocomplete.</a:t>
            </a:r>
            <a:endParaRPr/>
          </a:p>
        </p:txBody>
      </p:sp>
      <p:sp>
        <p:nvSpPr>
          <p:cNvPr id="443" name="Google Shape;443;p24"/>
          <p:cNvSpPr/>
          <p:nvPr/>
        </p:nvSpPr>
        <p:spPr>
          <a:xfrm>
            <a:off x="4288536" y="1645920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E4EC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4517136" y="18288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🗄️</a:t>
            </a:r>
            <a:endParaRPr/>
          </a:p>
        </p:txBody>
      </p:sp>
      <p:sp>
        <p:nvSpPr>
          <p:cNvPr id="445" name="Google Shape;445;p24"/>
          <p:cNvSpPr txBox="1"/>
          <p:nvPr/>
        </p:nvSpPr>
        <p:spPr>
          <a:xfrm>
            <a:off x="5202936" y="1874520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Databricks MCP tools</a:t>
            </a:r>
            <a:endParaRPr/>
          </a:p>
        </p:txBody>
      </p:sp>
      <p:sp>
        <p:nvSpPr>
          <p:cNvPr id="446" name="Google Shape;446;p24"/>
          <p:cNvSpPr txBox="1"/>
          <p:nvPr/>
        </p:nvSpPr>
        <p:spPr>
          <a:xfrm>
            <a:off x="4544568" y="251460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UC, Lakeflow, Genie, Lakebase and Apps provisioned from natural-language intent — infrastructure as conversation.</a:t>
            </a:r>
            <a:endParaRPr/>
          </a:p>
        </p:txBody>
      </p:sp>
      <p:sp>
        <p:nvSpPr>
          <p:cNvPr id="447" name="Google Shape;447;p24"/>
          <p:cNvSpPr/>
          <p:nvPr/>
        </p:nvSpPr>
        <p:spPr>
          <a:xfrm>
            <a:off x="8028432" y="1645920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EEE5F8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8257032" y="18288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🧠</a:t>
            </a:r>
            <a:endParaRPr/>
          </a:p>
        </p:txBody>
      </p:sp>
      <p:sp>
        <p:nvSpPr>
          <p:cNvPr id="449" name="Google Shape;449;p24"/>
          <p:cNvSpPr txBox="1"/>
          <p:nvPr/>
        </p:nvSpPr>
        <p:spPr>
          <a:xfrm>
            <a:off x="8942832" y="1874520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Extraction prompt pattern</a:t>
            </a:r>
            <a:endParaRPr/>
          </a:p>
        </p:txBody>
      </p:sp>
      <p:sp>
        <p:nvSpPr>
          <p:cNvPr id="450" name="Google Shape;450;p24"/>
          <p:cNvSpPr txBox="1"/>
          <p:nvPr/>
        </p:nvSpPr>
        <p:spPr>
          <a:xfrm>
            <a:off x="8284464" y="251460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reusable ai_query() prompt turns every free-text MSL note into 9 governed columns — the product's core AI move.</a:t>
            </a:r>
            <a:endParaRPr/>
          </a:p>
        </p:txBody>
      </p:sp>
      <p:sp>
        <p:nvSpPr>
          <p:cNvPr id="451" name="Google Shape;451;p24"/>
          <p:cNvSpPr/>
          <p:nvPr/>
        </p:nvSpPr>
        <p:spPr>
          <a:xfrm>
            <a:off x="548640" y="3703319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FFF3D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4"/>
          <p:cNvSpPr txBox="1"/>
          <p:nvPr/>
        </p:nvSpPr>
        <p:spPr>
          <a:xfrm>
            <a:off x="777240" y="3886199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📎</a:t>
            </a:r>
            <a:endParaRPr/>
          </a:p>
        </p:txBody>
      </p:sp>
      <p:sp>
        <p:nvSpPr>
          <p:cNvPr id="453" name="Google Shape;453;p24"/>
          <p:cNvSpPr txBox="1"/>
          <p:nvPr/>
        </p:nvSpPr>
        <p:spPr>
          <a:xfrm>
            <a:off x="1463040" y="3931919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Grounded-briefing guardrail</a:t>
            </a:r>
            <a:endParaRPr/>
          </a:p>
        </p:txBody>
      </p:sp>
      <p:sp>
        <p:nvSpPr>
          <p:cNvPr id="454" name="Google Shape;454;p24"/>
          <p:cNvSpPr txBox="1"/>
          <p:nvPr/>
        </p:nvSpPr>
        <p:spPr>
          <a:xfrm>
            <a:off x="804672" y="4571999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app's prompt enforces factual, context-only, non-promotional output — a safety pattern for regulated GenAI.</a:t>
            </a:r>
            <a:endParaRPr/>
          </a:p>
        </p:txBody>
      </p:sp>
      <p:sp>
        <p:nvSpPr>
          <p:cNvPr id="455" name="Google Shape;455;p24"/>
          <p:cNvSpPr/>
          <p:nvPr/>
        </p:nvSpPr>
        <p:spPr>
          <a:xfrm>
            <a:off x="4288536" y="3703319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4"/>
          <p:cNvSpPr txBox="1"/>
          <p:nvPr/>
        </p:nvSpPr>
        <p:spPr>
          <a:xfrm>
            <a:off x="4517136" y="3886199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✅</a:t>
            </a:r>
            <a:endParaRPr/>
          </a:p>
        </p:txBody>
      </p:sp>
      <p:sp>
        <p:nvSpPr>
          <p:cNvPr id="457" name="Google Shape;457;p24"/>
          <p:cNvSpPr txBox="1"/>
          <p:nvPr/>
        </p:nvSpPr>
        <p:spPr>
          <a:xfrm>
            <a:off x="5202936" y="3931919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Generate → verify loop</a:t>
            </a:r>
            <a:endParaRPr/>
          </a:p>
        </p:txBody>
      </p:sp>
      <p:sp>
        <p:nvSpPr>
          <p:cNvPr id="458" name="Google Shape;458;p24"/>
          <p:cNvSpPr txBox="1"/>
          <p:nvPr/>
        </p:nvSpPr>
        <p:spPr>
          <a:xfrm>
            <a:off x="4544568" y="4571999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Every resource was validated live (execute_sql, endpoint checks) before moving on — AI proposes, we verify.</a:t>
            </a:r>
            <a:endParaRPr/>
          </a:p>
        </p:txBody>
      </p:sp>
      <p:sp>
        <p:nvSpPr>
          <p:cNvPr id="459" name="Google Shape;459;p24"/>
          <p:cNvSpPr/>
          <p:nvPr/>
        </p:nvSpPr>
        <p:spPr>
          <a:xfrm>
            <a:off x="8028432" y="3703319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F4F6F9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24"/>
          <p:cNvSpPr txBox="1"/>
          <p:nvPr/>
        </p:nvSpPr>
        <p:spPr>
          <a:xfrm>
            <a:off x="8257032" y="3886199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🧪</a:t>
            </a:r>
            <a:endParaRPr/>
          </a:p>
        </p:txBody>
      </p:sp>
      <p:sp>
        <p:nvSpPr>
          <p:cNvPr id="461" name="Google Shape;461;p24"/>
          <p:cNvSpPr txBox="1"/>
          <p:nvPr/>
        </p:nvSpPr>
        <p:spPr>
          <a:xfrm>
            <a:off x="8942832" y="3931919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Synthetic data generation</a:t>
            </a:r>
            <a:endParaRPr/>
          </a:p>
        </p:txBody>
      </p:sp>
      <p:sp>
        <p:nvSpPr>
          <p:cNvPr id="462" name="Google Shape;462;p24"/>
          <p:cNvSpPr txBox="1"/>
          <p:nvPr/>
        </p:nvSpPr>
        <p:spPr>
          <a:xfrm>
            <a:off x="8284464" y="4571999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Faker + Spark patterns produced realistic KOL, inquiry and engagement data at demo scale.</a:t>
            </a:r>
            <a:endParaRPr/>
          </a:p>
        </p:txBody>
      </p:sp>
      <p:sp>
        <p:nvSpPr>
          <p:cNvPr id="463" name="Google Shape;463;p24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