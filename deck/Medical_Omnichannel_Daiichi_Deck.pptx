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675"/>
  <p:notesSz cx="6858000" cy="9144000"/>
  <p:embeddedFontLs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font" Target="fonts/QuattrocentoSans-regular.fntdata"/><Relationship Id="rId20" Type="http://schemas.openxmlformats.org/officeDocument/2006/relationships/font" Target="fonts/QuattrocentoSans-bold.fntdata"/><Relationship Id="rId21" Type="http://schemas.openxmlformats.org/officeDocument/2006/relationships/font" Target="fonts/QuattrocentoSans-italic.fntdata"/><Relationship Id="rId22" Type="http://schemas.openxmlformats.org/officeDocument/2006/relationships/font" Target="fonts/Quattrocento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97c5f57f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f97c5f57f6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B1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822960" y="96012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22960" y="100584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EC8E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DATABRICKS  ·  DAIICHI SANKYO  ·  ONCOLOGY MEDICAL AFFAIRS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7240" y="1737360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</a:t>
            </a:r>
            <a:endParaRPr/>
          </a:p>
          <a:p>
            <a:pPr indent="0" lvl="0" marL="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Analytics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22960" y="3794760"/>
            <a:ext cx="9875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4CED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unified, governed intelligence layer for Daiichi Sankyo oncology Medical Affairs — raw engagement signals flow through Lakeflow into one Unity Catalog 360° view, served operationally via Lakebase, made intelligent with Gen AI, queryable in Genie, and surfaced to MSLs in a Databricks App.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822960" y="5074920"/>
            <a:ext cx="2331720" cy="310896"/>
          </a:xfrm>
          <a:prstGeom prst="roundRect">
            <a:avLst>
              <a:gd fmla="val 16667" name="adj"/>
            </a:avLst>
          </a:prstGeom>
          <a:solidFill>
            <a:srgbClr val="1224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822960" y="5074920"/>
            <a:ext cx="233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Lakeflow → Unity Catalog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3291840" y="5074920"/>
            <a:ext cx="1645920" cy="310896"/>
          </a:xfrm>
          <a:prstGeom prst="roundRect">
            <a:avLst>
              <a:gd fmla="val 16667" name="adj"/>
            </a:avLst>
          </a:prstGeom>
          <a:solidFill>
            <a:srgbClr val="008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291840" y="507492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Lakebase serving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5074920" y="5074920"/>
            <a:ext cx="1828800" cy="310896"/>
          </a:xfrm>
          <a:prstGeom prst="roundRect">
            <a:avLst>
              <a:gd fmla="val 16667" name="adj"/>
            </a:avLst>
          </a:prstGeom>
          <a:solidFill>
            <a:srgbClr val="2D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074920" y="5074920"/>
            <a:ext cx="1828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Genie + AI/BI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7040880" y="5074920"/>
            <a:ext cx="2331720" cy="310896"/>
          </a:xfrm>
          <a:prstGeom prst="roundRect">
            <a:avLst>
              <a:gd fmla="val 16667" name="adj"/>
            </a:avLst>
          </a:prstGeom>
          <a:solidFill>
            <a:srgbClr val="5B2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7040880" y="5074920"/>
            <a:ext cx="2331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Databricks App (Copilot)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56350" y="6267600"/>
            <a:ext cx="1051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Srihari Aravindakshan, Solutions Architect</a:t>
            </a:r>
            <a:br>
              <a:rPr b="1" lang="en-US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BUSINESS CHALLENGE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Affairs signal is real — but it's scattered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430000" y="384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48640" y="1371600"/>
            <a:ext cx="11091672" cy="177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Daiichi Sankyo's MSLs engage the most influential oncology KOLs for Enhertu and Datroway — but the evidence of what a KOL actually cares about lives in disconnected systems, so follow-ups slip, medical inquiries age past SLA, and high-value KOLs go under-served.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48640" y="2194560"/>
            <a:ext cx="5394960" cy="1920240"/>
          </a:xfrm>
          <a:prstGeom prst="roundRect">
            <a:avLst>
              <a:gd fmla="val 16667" name="adj"/>
            </a:avLst>
          </a:prstGeom>
          <a:solidFill>
            <a:srgbClr val="FFF3D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48640" y="2194560"/>
            <a:ext cx="128016" cy="1920240"/>
          </a:xfrm>
          <a:prstGeom prst="roundRect">
            <a:avLst>
              <a:gd fmla="val 16667" name="adj"/>
            </a:avLst>
          </a:prstGeom>
          <a:solidFill>
            <a:srgbClr val="D982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45059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Fragmented channels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2980944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MSL notes, medical inquiries, congress activity, digital engagement, publications &amp; trials all live apart — no single HCP view.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6245352" y="2194560"/>
            <a:ext cx="5394960" cy="1920240"/>
          </a:xfrm>
          <a:prstGeom prst="roundRect">
            <a:avLst>
              <a:gd fmla="val 16667" name="adj"/>
            </a:avLst>
          </a:prstGeom>
          <a:solidFill>
            <a:srgbClr val="EEE5F8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245352" y="2194560"/>
            <a:ext cx="128016" cy="1920240"/>
          </a:xfrm>
          <a:prstGeom prst="roundRect">
            <a:avLst>
              <a:gd fmla="val 16667" name="adj"/>
            </a:avLst>
          </a:prstGeom>
          <a:solidFill>
            <a:srgbClr val="5B2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611112" y="245059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Insight trapped in free text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611112" y="2980944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richest signal — scientific interest, unmet information needs, sentiment — sits in unstructured MSL interaction notes.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548640" y="4297680"/>
            <a:ext cx="5394960" cy="1920240"/>
          </a:xfrm>
          <a:prstGeom prst="roundRect">
            <a:avLst>
              <a:gd fmla="val 16667" name="adj"/>
            </a:avLst>
          </a:prstGeom>
          <a:solidFill>
            <a:srgbClr val="E4EC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548640" y="4297680"/>
            <a:ext cx="128016" cy="1920240"/>
          </a:xfrm>
          <a:prstGeom prst="roundRect">
            <a:avLst>
              <a:gd fmla="val 16667" name="adj"/>
            </a:avLst>
          </a:prstGeom>
          <a:solidFill>
            <a:srgbClr val="2D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914400" y="455371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Reactive, manual prep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14400" y="5084064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MSLs spend hours assembling context before each engagement; prioritization is gut-feel, not data-driven.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6245352" y="4297680"/>
            <a:ext cx="5394960" cy="1920240"/>
          </a:xfrm>
          <a:prstGeom prst="roundRect">
            <a:avLst>
              <a:gd fmla="val 16667" name="adj"/>
            </a:avLst>
          </a:prstGeom>
          <a:solidFill>
            <a:srgbClr val="DEF5E7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245352" y="4297680"/>
            <a:ext cx="128016" cy="1920240"/>
          </a:xfrm>
          <a:prstGeom prst="roundRect">
            <a:avLst>
              <a:gd fmla="val 16667" name="adj"/>
            </a:avLst>
          </a:prstGeom>
          <a:solidFill>
            <a:srgbClr val="1F9D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6611112" y="455371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Governance is non-negotiable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611112" y="5084064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Affairs is non-promotional and regulated — every shared asset must be medically approved and human-reviewed.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(synthetic)  ·  Databricks  ·  _sa701.moa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WE BUILT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governed platform — raw files to MSL action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1430000" y="384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48640" y="1371600"/>
            <a:ext cx="11091672" cy="177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Everything runs on the Databricks Data Intelligence Platform on one governed Unity Catalog schema (_sa701.moa). A Lakeflow medallion pipeline feeds Gold tables that power Genie, an AI/BI dashboard, a Lakebase-served MSL cockpit, and the Copilot app — no data copies, one security model.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48640" y="2240280"/>
            <a:ext cx="2670048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548640" y="2240280"/>
            <a:ext cx="2670048" cy="640080"/>
          </a:xfrm>
          <a:prstGeom prst="roundRect">
            <a:avLst>
              <a:gd fmla="val 16667" name="adj"/>
            </a:avLst>
          </a:prstGeom>
          <a:solidFill>
            <a:srgbClr val="1224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548640" y="2560320"/>
            <a:ext cx="2670048" cy="320040"/>
          </a:xfrm>
          <a:prstGeom prst="rect">
            <a:avLst/>
          </a:prstGeom>
          <a:solidFill>
            <a:srgbClr val="1224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548640" y="2286000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🗄️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749808" y="3063240"/>
            <a:ext cx="22677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Governed data layer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768096" y="3840480"/>
            <a:ext cx="223113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Lakeflow medallion in Unity Catalog: 31 Delta tables across bronze, silver &amp; gold, plus governed metric views and a Lakebase operational serving layer.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3355848" y="2240280"/>
            <a:ext cx="2670048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3355848" y="2240280"/>
            <a:ext cx="2670048" cy="640080"/>
          </a:xfrm>
          <a:prstGeom prst="roundRect">
            <a:avLst>
              <a:gd fmla="val 16667" name="adj"/>
            </a:avLst>
          </a:prstGeom>
          <a:solidFill>
            <a:srgbClr val="008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3355848" y="2560320"/>
            <a:ext cx="2670048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3355848" y="2286000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💬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3557016" y="3063240"/>
            <a:ext cx="22677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Genie space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3575304" y="3840480"/>
            <a:ext cx="22311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Natural-language analytics — business users ask questions in plain English and get governed answers, no dashboards required.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6163056" y="2240280"/>
            <a:ext cx="2670048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6163056" y="2240280"/>
            <a:ext cx="2670048" cy="640080"/>
          </a:xfrm>
          <a:prstGeom prst="roundRect">
            <a:avLst>
              <a:gd fmla="val 16667" name="adj"/>
            </a:avLst>
          </a:prstGeom>
          <a:solidFill>
            <a:srgbClr val="2D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6163056" y="2560320"/>
            <a:ext cx="2670048" cy="32004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6163056" y="2286000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364224" y="3063240"/>
            <a:ext cx="22677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AI/BI dashboard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6382512" y="3840480"/>
            <a:ext cx="223113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Curated omnichannel view: engagement, territory opportunity, topic interest, inquiry SLAs — built on the same governed metrics.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8970264" y="2240280"/>
            <a:ext cx="2670048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8970264" y="2240280"/>
            <a:ext cx="2670048" cy="640080"/>
          </a:xfrm>
          <a:prstGeom prst="roundRect">
            <a:avLst>
              <a:gd fmla="val 16667" name="adj"/>
            </a:avLst>
          </a:prstGeom>
          <a:solidFill>
            <a:srgbClr val="5B2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8970264" y="2560320"/>
            <a:ext cx="2670048" cy="3200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8970264" y="2286000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🧬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9171432" y="3063240"/>
            <a:ext cx="22677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Engagement Copilot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9189720" y="3840480"/>
            <a:ext cx="223113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Databricks App that produces an AI pre-engagement briefing + suggested plan for a selected HCP — for MSL review.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548640" y="5715000"/>
            <a:ext cx="1106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Shared foundation:  Lakeflow · Unity Catalog governance · Delta Lake · Lakebase (PostgreSQL) · Databricks-hosted LLM via ai_query() · serverless SQL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(synthetic)  ·  Databricks  ·  _sa701.moa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data flow — source to decision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11430000" y="384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548640" y="1371600"/>
            <a:ext cx="11091672" cy="177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548650" y="1600200"/>
            <a:ext cx="2148900" cy="161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548650" y="1600200"/>
            <a:ext cx="2148900" cy="438000"/>
          </a:xfrm>
          <a:prstGeom prst="roundRect">
            <a:avLst>
              <a:gd fmla="val 16667" name="adj"/>
            </a:avLst>
          </a:prstGeom>
          <a:solidFill>
            <a:srgbClr val="B07A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548650" y="1808803"/>
            <a:ext cx="2148900" cy="229500"/>
          </a:xfrm>
          <a:prstGeom prst="rect">
            <a:avLst/>
          </a:prstGeom>
          <a:solidFill>
            <a:srgbClr val="B07A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548650" y="1600200"/>
            <a:ext cx="2148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① SOURCES  ·  Bronze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76666" y="2100847"/>
            <a:ext cx="18927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hcp_master · msl_interactions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medical_inquiries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congress_events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digital_engagement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publications_trials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patient_claims_summary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548650" y="3237733"/>
            <a:ext cx="214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Lakeflow Auto Loader:  UC Volume → Bronze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2999240" y="1600200"/>
            <a:ext cx="2148900" cy="161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2999240" y="1600200"/>
            <a:ext cx="2148900" cy="438000"/>
          </a:xfrm>
          <a:prstGeom prst="roundRect">
            <a:avLst>
              <a:gd fmla="val 16667" name="adj"/>
            </a:avLst>
          </a:prstGeom>
          <a:solidFill>
            <a:srgbClr val="8A9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2999240" y="1808803"/>
            <a:ext cx="2148900" cy="2295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2999240" y="1600200"/>
            <a:ext cx="2148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② SILVER  ·  AI extract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3127256" y="2100847"/>
            <a:ext cx="18927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silver_msl_extracted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A1A2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ai_query() over raw MSL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notes → scientific topic,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 need, sentiment,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follow-up, competitor…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2999240" y="3237733"/>
            <a:ext cx="214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Llama 3.3 70B · ai_query()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5449830" y="1600200"/>
            <a:ext cx="2148900" cy="161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5449830" y="1600200"/>
            <a:ext cx="2148900" cy="438000"/>
          </a:xfrm>
          <a:prstGeom prst="roundRect">
            <a:avLst>
              <a:gd fmla="val 16667" name="adj"/>
            </a:avLst>
          </a:prstGeom>
          <a:solidFill>
            <a:srgbClr val="C99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5449830" y="1808803"/>
            <a:ext cx="2148900" cy="229500"/>
          </a:xfrm>
          <a:prstGeom prst="rect">
            <a:avLst/>
          </a:prstGeom>
          <a:solidFill>
            <a:srgbClr val="C99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5449830" y="1600200"/>
            <a:ext cx="2148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③ GOLD  ·  Analytics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5577845" y="2100847"/>
            <a:ext cx="18927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gold_hcp_360 · </a:t>
            </a: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hcp_priority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medical_topic_interest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next_best_engagement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territory_opportunity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congress_engagement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approved_content / shared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5449830" y="3237733"/>
            <a:ext cx="214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governed metric views</a:t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7900419" y="1600200"/>
            <a:ext cx="1874400" cy="161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7900419" y="1600200"/>
            <a:ext cx="1874400" cy="438000"/>
          </a:xfrm>
          <a:prstGeom prst="roundRect">
            <a:avLst>
              <a:gd fmla="val 16667" name="adj"/>
            </a:avLst>
          </a:prstGeom>
          <a:solidFill>
            <a:srgbClr val="008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7900419" y="1808803"/>
            <a:ext cx="1874400" cy="2295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7900419" y="1600200"/>
            <a:ext cx="1874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④ GOVERNED KPIs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8028435" y="2100847"/>
            <a:ext cx="16185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metric_hcp_engagement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metric_medical_inquiries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A1A2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Consistent business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metrics reused by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 + Genie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10058401" y="1600200"/>
            <a:ext cx="1600200" cy="459000"/>
          </a:xfrm>
          <a:prstGeom prst="roundRect">
            <a:avLst>
              <a:gd fmla="val 16667" name="adj"/>
            </a:avLst>
          </a:prstGeom>
          <a:solidFill>
            <a:srgbClr val="008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10058401" y="1600200"/>
            <a:ext cx="160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💬 Genie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10058401" y="2142567"/>
            <a:ext cx="1600200" cy="459000"/>
          </a:xfrm>
          <a:prstGeom prst="roundRect">
            <a:avLst>
              <a:gd fmla="val 16667" name="adj"/>
            </a:avLst>
          </a:prstGeom>
          <a:solidFill>
            <a:srgbClr val="2D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10058401" y="2142567"/>
            <a:ext cx="160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 Dashboard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10058401" y="2684935"/>
            <a:ext cx="1600200" cy="459000"/>
          </a:xfrm>
          <a:prstGeom prst="roundRect">
            <a:avLst>
              <a:gd fmla="val 16667" name="adj"/>
            </a:avLst>
          </a:prstGeom>
          <a:solidFill>
            <a:srgbClr val="5B2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10058401" y="2684935"/>
            <a:ext cx="160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🧬 Copilot App</a:t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2715776" y="2246869"/>
            <a:ext cx="255900" cy="25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07A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5166366" y="2246869"/>
            <a:ext cx="255900" cy="25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A9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7616956" y="2246869"/>
            <a:ext cx="255900" cy="25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9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9802370" y="2246869"/>
            <a:ext cx="237600" cy="25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8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548640" y="4063500"/>
            <a:ext cx="11091600" cy="567000"/>
          </a:xfrm>
          <a:prstGeom prst="roundRect">
            <a:avLst>
              <a:gd fmla="val 16667" name="adj"/>
            </a:avLst>
          </a:prstGeom>
          <a:solidFill>
            <a:srgbClr val="0B1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731520" y="4063500"/>
            <a:ext cx="10789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  Databricks-hosted LLM  —  databricks-meta-llama-3-3-70b-instruct  ·  called via ai_query() for silver extraction AND the app's pre-engagement briefing</a:t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548640" y="4795020"/>
            <a:ext cx="11091600" cy="567000"/>
          </a:xfrm>
          <a:prstGeom prst="roundRect">
            <a:avLst>
              <a:gd fmla="val 16667" name="adj"/>
            </a:avLst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731520" y="4795020"/>
            <a:ext cx="10789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  Unity Catalog  —  single governance &amp; lineage layer across every table, metric and surface  ·  Delta Lake  ·  Lakebase operational serving  ·  serverless SQL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548640" y="5572260"/>
            <a:ext cx="1109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Genie, the AI/BI dashboard, the Lakebase MSL action queue, and the Copilot app all read the SAME governed Gold tables &amp; metric views — one source of truth, one security model.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(synthetic)  ·  Databricks  ·  _sa701.moa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DATA LAYER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Lakeflow medallion in Unity Catalog (_sa701.moa)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11430000" y="384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548640" y="1371600"/>
            <a:ext cx="11091672" cy="177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548640" y="1645920"/>
            <a:ext cx="361188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548640" y="1645920"/>
            <a:ext cx="3611880" cy="502920"/>
          </a:xfrm>
          <a:prstGeom prst="roundRect">
            <a:avLst>
              <a:gd fmla="val 16667" name="adj"/>
            </a:avLst>
          </a:prstGeom>
          <a:solidFill>
            <a:srgbClr val="B07A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548640" y="1901952"/>
            <a:ext cx="3611880" cy="246888"/>
          </a:xfrm>
          <a:prstGeom prst="rect">
            <a:avLst/>
          </a:prstGeom>
          <a:solidFill>
            <a:srgbClr val="B07A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548640" y="1645920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BRONZE / SOURCE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804672" y="23317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hcp_master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804672" y="266090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msl_interactions (free-text notes)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804672" y="299008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medical_inquiries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804672" y="331927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congress_events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804672" y="364845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digital_engagement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804672" y="397764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publications_trials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804672" y="430682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patient_claims_summary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731520" y="48006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B07A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omnichannel signal landed as Delta tables</a:t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4288536" y="1645920"/>
            <a:ext cx="361188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4288536" y="1645920"/>
            <a:ext cx="3611880" cy="502920"/>
          </a:xfrm>
          <a:prstGeom prst="roundRect">
            <a:avLst>
              <a:gd fmla="val 16667" name="adj"/>
            </a:avLst>
          </a:prstGeom>
          <a:solidFill>
            <a:srgbClr val="8A9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4288536" y="1901952"/>
            <a:ext cx="3611880" cy="246888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 txBox="1"/>
          <p:nvPr/>
        </p:nvSpPr>
        <p:spPr>
          <a:xfrm>
            <a:off x="4288536" y="1645920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SILVER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4544568" y="23317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silver_msl_extracted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4544568" y="277063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Structured fields extracted from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4544568" y="306324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MSL notes with ai_query():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4544568" y="335584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topic · info need · sentiment ·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4544568" y="364845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interest · follow-up · competitor ·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4544568" y="394106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evidence type · topic_category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4471416" y="48006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8A94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Unstructured → structured, LLM-powered</a:t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8028432" y="1645920"/>
            <a:ext cx="361188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8028432" y="1645920"/>
            <a:ext cx="3611880" cy="502920"/>
          </a:xfrm>
          <a:prstGeom prst="roundRect">
            <a:avLst>
              <a:gd fmla="val 16667" name="adj"/>
            </a:avLst>
          </a:prstGeom>
          <a:solidFill>
            <a:srgbClr val="C99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8028432" y="1901952"/>
            <a:ext cx="3611880" cy="246888"/>
          </a:xfrm>
          <a:prstGeom prst="rect">
            <a:avLst/>
          </a:prstGeom>
          <a:solidFill>
            <a:srgbClr val="C99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8028432" y="1645920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GOLD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8284464" y="23317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gold_hcp_360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8284464" y="266090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gold_hcp_priority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8284464" y="299008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gold_medical_topic_interest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8284464" y="331927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gold_next_best_engagement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8284464" y="364845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gold_territory_opportunity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8284464" y="397764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gold_congress_engagement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8284464" y="430682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• gold_approved_content / _content_shared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8211312" y="48006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C99A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Analytics-ready, aggregated &amp; scored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 Delta tables  ·  2 governed metric views  ·  2 UC Volumes (raw + source_documents)  —  Lakeflow-built, Lakebase-served, one lineage graph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(synthetic)  ·  Databricks  ·  _sa701.moa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IN THE PIPELINE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free-text notes to structured intelligence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11430000" y="384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/>
          </a:p>
        </p:txBody>
      </p:sp>
      <p:sp>
        <p:nvSpPr>
          <p:cNvPr id="264" name="Google Shape;264;p18"/>
          <p:cNvSpPr/>
          <p:nvPr/>
        </p:nvSpPr>
        <p:spPr>
          <a:xfrm>
            <a:off x="548640" y="1371600"/>
            <a:ext cx="11091672" cy="177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richest medical signal is locked in unstructured MSL notes. We unlock it in-place with ai_query() — no data movement, fully governed, at SQL scale.</a:t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548640" y="2240280"/>
            <a:ext cx="4297680" cy="3291840"/>
          </a:xfrm>
          <a:prstGeom prst="roundRect">
            <a:avLst>
              <a:gd fmla="val 16667" name="adj"/>
            </a:avLst>
          </a:prstGeom>
          <a:solidFill>
            <a:srgbClr val="0B1733"/>
          </a:solidFill>
          <a:ln cap="flat" cmpd="sng" w="12700">
            <a:solidFill>
              <a:srgbClr val="0B1733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777240" y="24231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7EC8E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MSL INTERACTION NOTE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777240" y="2834640"/>
            <a:ext cx="3886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"Met with the KOL to discuss real-world outcomes and treatment patterns post-T-DXd for Enhertu in HER2-low breast cancer. Tone positive, high scientific interest. Compared experience with Kadcyla and requested follow-up materials."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4983480" y="3566160"/>
            <a:ext cx="777240" cy="6400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4846320" y="324612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ai_query()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4846320" y="425196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Llama 3.3 70B</a:t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5989320" y="2240280"/>
            <a:ext cx="5650992" cy="3291840"/>
          </a:xfrm>
          <a:prstGeom prst="roundRect">
            <a:avLst>
              <a:gd fmla="val 16667" name="adj"/>
            </a:avLst>
          </a:prstGeom>
          <a:solidFill>
            <a:srgbClr val="DEF5E7"/>
          </a:solidFill>
          <a:ln cap="flat" cmpd="sng" w="12700">
            <a:solidFill>
              <a:srgbClr val="1F9D55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 txBox="1"/>
          <p:nvPr/>
        </p:nvSpPr>
        <p:spPr>
          <a:xfrm>
            <a:off x="6217920" y="242316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9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silver_msl_extracted  (structured)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6217920" y="28346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3"/>
                </a:solidFill>
                <a:latin typeface="Consolas"/>
                <a:ea typeface="Consolas"/>
                <a:cs typeface="Consolas"/>
                <a:sym typeface="Consolas"/>
              </a:rPr>
              <a:t>scientific_topic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8732520" y="2834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Real-world outcomes, T-DXd HER2-low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6217920" y="312267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3"/>
                </a:solidFill>
                <a:latin typeface="Consolas"/>
                <a:ea typeface="Consolas"/>
                <a:cs typeface="Consolas"/>
                <a:sym typeface="Consolas"/>
              </a:rPr>
              <a:t>information_need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8732520" y="312267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Comparative real-world evidence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6217920" y="341071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3"/>
                </a:solidFill>
                <a:latin typeface="Consolas"/>
                <a:ea typeface="Consolas"/>
                <a:cs typeface="Consolas"/>
                <a:sym typeface="Consolas"/>
              </a:rPr>
              <a:t>evidence_type_requested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8732520" y="34107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Real-World Evidence</a:t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6217920" y="369874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3"/>
                </a:solidFill>
                <a:latin typeface="Consolas"/>
                <a:ea typeface="Consolas"/>
                <a:cs typeface="Consolas"/>
                <a:sym typeface="Consolas"/>
              </a:rPr>
              <a:t>sentiment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8732520" y="36987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Positive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6217920" y="398678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3"/>
                </a:solidFill>
                <a:latin typeface="Consolas"/>
                <a:ea typeface="Consolas"/>
                <a:cs typeface="Consolas"/>
                <a:sym typeface="Consolas"/>
              </a:rPr>
              <a:t>interest_level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8732520" y="398678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6217920" y="42748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3"/>
                </a:solidFill>
                <a:latin typeface="Consolas"/>
                <a:ea typeface="Consolas"/>
                <a:cs typeface="Consolas"/>
                <a:sym typeface="Consolas"/>
              </a:rPr>
              <a:t>follow_up_requested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8732520" y="42748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6217920" y="456285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3"/>
                </a:solidFill>
                <a:latin typeface="Consolas"/>
                <a:ea typeface="Consolas"/>
                <a:cs typeface="Consolas"/>
                <a:sym typeface="Consolas"/>
              </a:rPr>
              <a:t>competitor_mentioned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8732520" y="45628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Kadcyla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6217920" y="48508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3"/>
                </a:solidFill>
                <a:latin typeface="Consolas"/>
                <a:ea typeface="Consolas"/>
                <a:cs typeface="Consolas"/>
                <a:sym typeface="Consolas"/>
              </a:rPr>
              <a:t>preferred_channel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8732520" y="48508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In-person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6217920" y="51389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3"/>
                </a:solidFill>
                <a:latin typeface="Consolas"/>
                <a:ea typeface="Consolas"/>
                <a:cs typeface="Consolas"/>
                <a:sym typeface="Consolas"/>
              </a:rPr>
              <a:t>topic_category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8732520" y="51389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Real-World Evidence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SQL function turns every MSL note into governed, queryable columns — the foundation for topic-interest scoring, prioritization, and next-best-engagement in Gold.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(synthetic)  ·  Databricks  ·  _sa701.moa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CONSUMPTION · NATURAL LANGUAGE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Genie space: ask Medical Affairs questions in English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11430000" y="384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548640" y="1371600"/>
            <a:ext cx="11091672" cy="177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"Medical Omnichannel Intelligence — Daiichi Sankyo" Genie space lets medical &amp; field teams self-serve governed answers — no SQL, no dashboard-hunting.</a:t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548640" y="2240280"/>
            <a:ext cx="6583680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 txBox="1"/>
          <p:nvPr/>
        </p:nvSpPr>
        <p:spPr>
          <a:xfrm>
            <a:off x="777240" y="242316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 questions</a:t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777240" y="2880360"/>
            <a:ext cx="6126480" cy="502920"/>
          </a:xfrm>
          <a:prstGeom prst="roundRect">
            <a:avLst>
              <a:gd fmla="val 16667" name="adj"/>
            </a:avLst>
          </a:prstGeom>
          <a:solidFill>
            <a:srgbClr val="D6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 txBox="1"/>
          <p:nvPr/>
        </p:nvSpPr>
        <p:spPr>
          <a:xfrm>
            <a:off x="960120" y="2880360"/>
            <a:ext cx="5806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💬  Which 5 territories have the lowest 90-day HCP reach rate?</a:t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777240" y="3483864"/>
            <a:ext cx="6126480" cy="502920"/>
          </a:xfrm>
          <a:prstGeom prst="roundRect">
            <a:avLst>
              <a:gd fmla="val 16667" name="adj"/>
            </a:avLst>
          </a:prstGeom>
          <a:solidFill>
            <a:srgbClr val="D6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960120" y="3483864"/>
            <a:ext cx="5806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💬  Which high-priority KOLs are under-engaged and overdue for an MSL visit?</a:t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777240" y="4087368"/>
            <a:ext cx="6126480" cy="502920"/>
          </a:xfrm>
          <a:prstGeom prst="roundRect">
            <a:avLst>
              <a:gd fmla="val 16667" name="adj"/>
            </a:avLst>
          </a:prstGeom>
          <a:solidFill>
            <a:srgbClr val="D6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960120" y="4087368"/>
            <a:ext cx="5806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💬  Show medical inquiries overdue against SLA, by product.</a:t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777240" y="4690872"/>
            <a:ext cx="6126480" cy="502920"/>
          </a:xfrm>
          <a:prstGeom prst="roundRect">
            <a:avLst>
              <a:gd fmla="val 16667" name="adj"/>
            </a:avLst>
          </a:prstGeom>
          <a:solidFill>
            <a:srgbClr val="D6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960120" y="4690872"/>
            <a:ext cx="5806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💬  What are the top scientific topics of interest across oncology KOLs?</a:t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777240" y="5294376"/>
            <a:ext cx="6126480" cy="502920"/>
          </a:xfrm>
          <a:prstGeom prst="roundRect">
            <a:avLst>
              <a:gd fmla="val 16667" name="adj"/>
            </a:avLst>
          </a:prstGeom>
          <a:solidFill>
            <a:srgbClr val="D6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960120" y="5294376"/>
            <a:ext cx="5806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💬  List Tier 1 KOLs with open inquiries about Safety / ILD Management.</a:t>
            </a:r>
            <a:endParaRPr/>
          </a:p>
        </p:txBody>
      </p:sp>
      <p:sp>
        <p:nvSpPr>
          <p:cNvPr id="316" name="Google Shape;316;p19"/>
          <p:cNvSpPr/>
          <p:nvPr/>
        </p:nvSpPr>
        <p:spPr>
          <a:xfrm>
            <a:off x="7360920" y="2240280"/>
            <a:ext cx="4279392" cy="3566160"/>
          </a:xfrm>
          <a:prstGeom prst="roundRect">
            <a:avLst>
              <a:gd fmla="val 16667" name="adj"/>
            </a:avLst>
          </a:prstGeom>
          <a:solidFill>
            <a:srgbClr val="F4F6F9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7589520" y="24231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87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matters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7589520" y="2880360"/>
            <a:ext cx="38404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87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Governed by Unity Catalog — answers respect the same permissions as everything else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87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Runs on the curated Gold tables &amp; metric views — consistent definitions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87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Trusted metrics: KPIs come from metric_hcp_engagement &amp; metric_medical_inquiries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87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Democratizes access for non-technical medical stakeholders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87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Transparent — shows the generated SQL behind every answer</a:t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(synthetic)  ·  Databricks  ·  _sa701.moa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CONSUMPTION · CURATED ANALYTICS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AI/BI dashboard: the omnichannel command center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11430000" y="384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548640" y="1371600"/>
            <a:ext cx="11091672" cy="177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curated, always-on view of Medical Affairs engagement — 6 KPIs, reach by territory, topic interest, inquiry SLAs, priority tiers and the next-best-engagement queue — built on the same governed Gold tables and metric views that power Genie and the app.</a:t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548640" y="2286000"/>
            <a:ext cx="356616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548640" y="2286000"/>
            <a:ext cx="128016" cy="1508760"/>
          </a:xfrm>
          <a:prstGeom prst="roundRect">
            <a:avLst>
              <a:gd fmla="val 16667" name="adj"/>
            </a:avLst>
          </a:prstGeom>
          <a:solidFill>
            <a:srgbClr val="1224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868680" y="248716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HCP 360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868680" y="2944368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Unified profile,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engagement &amp; interest</a:t>
            </a: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4297680" y="2286000"/>
            <a:ext cx="356616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4297680" y="2286000"/>
            <a:ext cx="128016" cy="1508760"/>
          </a:xfrm>
          <a:prstGeom prst="roundRect">
            <a:avLst>
              <a:gd fmla="val 16667" name="adj"/>
            </a:avLst>
          </a:prstGeom>
          <a:solidFill>
            <a:srgbClr val="2D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4617720" y="248716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Priority &amp; segments</a:t>
            </a:r>
            <a:endParaRPr/>
          </a:p>
        </p:txBody>
      </p:sp>
      <p:sp>
        <p:nvSpPr>
          <p:cNvPr id="337" name="Google Shape;337;p20"/>
          <p:cNvSpPr txBox="1"/>
          <p:nvPr/>
        </p:nvSpPr>
        <p:spPr>
          <a:xfrm>
            <a:off x="4617720" y="2944368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MSL priority score,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under-engaged flags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8046720" y="2286000"/>
            <a:ext cx="356616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8046720" y="2286000"/>
            <a:ext cx="128016" cy="1508760"/>
          </a:xfrm>
          <a:prstGeom prst="roundRect">
            <a:avLst>
              <a:gd fmla="val 16667" name="adj"/>
            </a:avLst>
          </a:prstGeom>
          <a:solidFill>
            <a:srgbClr val="5B2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8366760" y="248716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Topic interest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8366760" y="2944368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Emerging scientific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topics over time</a:t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548640" y="3977640"/>
            <a:ext cx="356616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548640" y="3977640"/>
            <a:ext cx="128016" cy="1508760"/>
          </a:xfrm>
          <a:prstGeom prst="roundRect">
            <a:avLst>
              <a:gd fmla="val 16667" name="adj"/>
            </a:avLst>
          </a:prstGeom>
          <a:solidFill>
            <a:srgbClr val="D982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868680" y="417880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Inquiry SLAs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868680" y="4636008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 times &amp;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overdue tracking</a:t>
            </a: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4297680" y="3977640"/>
            <a:ext cx="356616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4297680" y="3977640"/>
            <a:ext cx="128016" cy="1508760"/>
          </a:xfrm>
          <a:prstGeom prst="roundRect">
            <a:avLst>
              <a:gd fmla="val 16667" name="adj"/>
            </a:avLst>
          </a:prstGeom>
          <a:solidFill>
            <a:srgbClr val="008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 txBox="1"/>
          <p:nvPr/>
        </p:nvSpPr>
        <p:spPr>
          <a:xfrm>
            <a:off x="4617720" y="417880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Territory opportunity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4617720" y="4636008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Reach rate &amp;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opportunity score</a:t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8046720" y="3977640"/>
            <a:ext cx="356616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8046720" y="3977640"/>
            <a:ext cx="128016" cy="1508760"/>
          </a:xfrm>
          <a:prstGeom prst="roundRect">
            <a:avLst>
              <a:gd fmla="val 16667" name="adj"/>
            </a:avLst>
          </a:prstGeom>
          <a:solidFill>
            <a:srgbClr val="1F9D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8366760" y="417880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Congress engagement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8366760" y="4636008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Sessions, booths,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distinct events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governed source as Genie &amp; the Copilot — build a metric once, trust it everywhere.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(synthetic)  ·  Databricks  ·  _sa701.moa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548640" y="384048"/>
            <a:ext cx="1005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CONSUMPTION · </a:t>
            </a:r>
            <a:r>
              <a:rPr b="1" lang="en-US" sz="1200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CoPilot</a:t>
            </a:r>
            <a:endParaRPr/>
          </a:p>
        </p:txBody>
      </p:sp>
      <p:sp>
        <p:nvSpPr>
          <p:cNvPr id="362" name="Google Shape;362;p2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Engagement Copilot — the Databricks App</a:t>
            </a: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11430000" y="384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/>
          </a:p>
        </p:txBody>
      </p:sp>
      <p:sp>
        <p:nvSpPr>
          <p:cNvPr id="364" name="Google Shape;364;p21"/>
          <p:cNvSpPr/>
          <p:nvPr/>
        </p:nvSpPr>
        <p:spPr>
          <a:xfrm>
            <a:off x="548640" y="1371600"/>
            <a:ext cx="11091672" cy="177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Select a KOL and get a pre-engagement briefing that unites analytics, AI, governed content, and a next-best action — the MSL's single prep screen. The action queue is served from Lakebase; review decisions are written back to Lakebase.</a:t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548640" y="2148840"/>
            <a:ext cx="11091672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548640" y="2148840"/>
            <a:ext cx="822960" cy="822960"/>
          </a:xfrm>
          <a:prstGeom prst="roundRect">
            <a:avLst>
              <a:gd fmla="val 16667" name="adj"/>
            </a:avLst>
          </a:prstGeom>
          <a:solidFill>
            <a:srgbClr val="2D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548640" y="214884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69" name="Google Shape;369;p21"/>
          <p:cNvSpPr txBox="1"/>
          <p:nvPr/>
        </p:nvSpPr>
        <p:spPr>
          <a:xfrm>
            <a:off x="1600200" y="2258568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Select an HCP</a:t>
            </a:r>
            <a:endParaRPr/>
          </a:p>
        </p:txBody>
      </p:sp>
      <p:sp>
        <p:nvSpPr>
          <p:cNvPr id="370" name="Google Shape;370;p21"/>
          <p:cNvSpPr txBox="1"/>
          <p:nvPr/>
        </p:nvSpPr>
        <p:spPr>
          <a:xfrm>
            <a:off x="4526280" y="224028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Prioritized queue served from Lakebase — highest MSL priority score first.</a:t>
            </a:r>
            <a:endParaRPr/>
          </a:p>
        </p:txBody>
      </p:sp>
      <p:sp>
        <p:nvSpPr>
          <p:cNvPr id="371" name="Google Shape;371;p21"/>
          <p:cNvSpPr/>
          <p:nvPr/>
        </p:nvSpPr>
        <p:spPr>
          <a:xfrm>
            <a:off x="548640" y="3099816"/>
            <a:ext cx="11091672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548640" y="3099816"/>
            <a:ext cx="822960" cy="822960"/>
          </a:xfrm>
          <a:prstGeom prst="roundRect">
            <a:avLst>
              <a:gd fmla="val 16667" name="adj"/>
            </a:avLst>
          </a:prstGeom>
          <a:solidFill>
            <a:srgbClr val="1224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548640" y="3099816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74" name="Google Shape;374;p21"/>
          <p:cNvSpPr txBox="1"/>
          <p:nvPr/>
        </p:nvSpPr>
        <p:spPr>
          <a:xfrm>
            <a:off x="1600200" y="3209544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Unified HCP 360</a:t>
            </a:r>
            <a:endParaRPr/>
          </a:p>
        </p:txBody>
      </p:sp>
      <p:sp>
        <p:nvSpPr>
          <p:cNvPr id="375" name="Google Shape;375;p21"/>
          <p:cNvSpPr txBox="1"/>
          <p:nvPr/>
        </p:nvSpPr>
        <p:spPr>
          <a:xfrm>
            <a:off x="4526280" y="3191256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Profile, recent interactions, top scientific interests, inquiries, congress, publications, content already shared, open follow-ups.</a:t>
            </a: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548640" y="4050792"/>
            <a:ext cx="11091672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548640" y="4050792"/>
            <a:ext cx="822960" cy="822960"/>
          </a:xfrm>
          <a:prstGeom prst="roundRect">
            <a:avLst>
              <a:gd fmla="val 16667" name="adj"/>
            </a:avLst>
          </a:prstGeom>
          <a:solidFill>
            <a:srgbClr val="5B2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548640" y="4050792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79" name="Google Shape;379;p21"/>
          <p:cNvSpPr txBox="1"/>
          <p:nvPr/>
        </p:nvSpPr>
        <p:spPr>
          <a:xfrm>
            <a:off x="1600200" y="41605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briefing</a:t>
            </a:r>
            <a:endParaRPr/>
          </a:p>
        </p:txBody>
      </p:sp>
      <p:sp>
        <p:nvSpPr>
          <p:cNvPr id="380" name="Google Shape;380;p21"/>
          <p:cNvSpPr txBox="1"/>
          <p:nvPr/>
        </p:nvSpPr>
        <p:spPr>
          <a:xfrm>
            <a:off x="4526280" y="4142232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3–4 sentence narrative via ai_query(), grounded ONLY in that HCP's structured context — factual, non-promotional.</a:t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548640" y="5001768"/>
            <a:ext cx="11091672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548640" y="5001768"/>
            <a:ext cx="822960" cy="822960"/>
          </a:xfrm>
          <a:prstGeom prst="roundRect">
            <a:avLst>
              <a:gd fmla="val 16667" name="adj"/>
            </a:avLst>
          </a:prstGeom>
          <a:solidFill>
            <a:srgbClr val="1F9D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548640" y="5001768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84" name="Google Shape;384;p21"/>
          <p:cNvSpPr txBox="1"/>
          <p:nvPr/>
        </p:nvSpPr>
        <p:spPr>
          <a:xfrm>
            <a:off x="1600200" y="5111496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Plan, approved content + Lakebase write-back</a:t>
            </a:r>
            <a:endParaRPr/>
          </a:p>
        </p:txBody>
      </p:sp>
      <p:sp>
        <p:nvSpPr>
          <p:cNvPr id="385" name="Google Shape;385;p21"/>
          <p:cNvSpPr txBox="1"/>
          <p:nvPr/>
        </p:nvSpPr>
        <p:spPr>
          <a:xfrm>
            <a:off x="4526280" y="509320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Objective, topic, channel, timing — plus an approved asset (with med review ID). The MSL logs the decision, written back transactionally to Lakebase. Requires MSL review.</a:t>
            </a:r>
            <a:endParaRPr/>
          </a:p>
        </p:txBody>
      </p:sp>
      <p:sp>
        <p:nvSpPr>
          <p:cNvPr id="386" name="Google Shape;386;p21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Runs as a Databricks App (service-principal auth, no hardcoded tokens) reading governed Gold over serverless SQL and the Lakebase MSL action queue.</a:t>
            </a:r>
            <a:endParaRPr/>
          </a:p>
        </p:txBody>
      </p:sp>
      <p:sp>
        <p:nvSpPr>
          <p:cNvPr id="387" name="Google Shape;387;p21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(synthetic)  ·  Databricks  ·  _sa701.moa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MATTERS</a:t>
            </a:r>
            <a:endParaRPr/>
          </a:p>
        </p:txBody>
      </p:sp>
      <p:sp>
        <p:nvSpPr>
          <p:cNvPr id="394" name="Google Shape;394;p2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value for Medical Affairs</a:t>
            </a:r>
            <a:endParaRPr/>
          </a:p>
        </p:txBody>
      </p:sp>
      <p:sp>
        <p:nvSpPr>
          <p:cNvPr id="395" name="Google Shape;395;p22"/>
          <p:cNvSpPr txBox="1"/>
          <p:nvPr/>
        </p:nvSpPr>
        <p:spPr>
          <a:xfrm>
            <a:off x="11430000" y="384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396" name="Google Shape;396;p22"/>
          <p:cNvSpPr/>
          <p:nvPr/>
        </p:nvSpPr>
        <p:spPr>
          <a:xfrm>
            <a:off x="548640" y="1371600"/>
            <a:ext cx="11091672" cy="177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548640" y="1691640"/>
            <a:ext cx="269748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548640" y="1691640"/>
            <a:ext cx="2697480" cy="109728"/>
          </a:xfrm>
          <a:prstGeom prst="roundRect">
            <a:avLst>
              <a:gd fmla="val 16667" name="adj"/>
            </a:avLst>
          </a:prstGeom>
          <a:solidFill>
            <a:srgbClr val="2D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548640" y="196596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D5B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Faster</a:t>
            </a:r>
            <a:endParaRPr/>
          </a:p>
        </p:txBody>
      </p:sp>
      <p:sp>
        <p:nvSpPr>
          <p:cNvPr id="400" name="Google Shape;400;p22"/>
          <p:cNvSpPr txBox="1"/>
          <p:nvPr/>
        </p:nvSpPr>
        <p:spPr>
          <a:xfrm>
            <a:off x="548640" y="2606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MSL prep</a:t>
            </a:r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777240" y="306324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briefings replace ~2 h/MSL/week of prep — est. ~$1.3M / year.</a:t>
            </a:r>
            <a:endParaRPr/>
          </a:p>
        </p:txBody>
      </p:sp>
      <p:sp>
        <p:nvSpPr>
          <p:cNvPr id="402" name="Google Shape;402;p22"/>
          <p:cNvSpPr/>
          <p:nvPr/>
        </p:nvSpPr>
        <p:spPr>
          <a:xfrm>
            <a:off x="3355848" y="1691640"/>
            <a:ext cx="269748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3355848" y="1691640"/>
            <a:ext cx="2697480" cy="109728"/>
          </a:xfrm>
          <a:prstGeom prst="roundRect">
            <a:avLst>
              <a:gd fmla="val 16667" name="adj"/>
            </a:avLst>
          </a:prstGeom>
          <a:solidFill>
            <a:srgbClr val="5B2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3355848" y="196596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5B2D8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Sharper</a:t>
            </a:r>
            <a:endParaRPr/>
          </a:p>
        </p:txBody>
      </p:sp>
      <p:sp>
        <p:nvSpPr>
          <p:cNvPr id="405" name="Google Shape;405;p22"/>
          <p:cNvSpPr txBox="1"/>
          <p:nvPr/>
        </p:nvSpPr>
        <p:spPr>
          <a:xfrm>
            <a:off x="3355848" y="2606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prioritization</a:t>
            </a:r>
            <a:endParaRPr/>
          </a:p>
        </p:txBody>
      </p:sp>
      <p:sp>
        <p:nvSpPr>
          <p:cNvPr id="406" name="Google Shape;406;p22"/>
          <p:cNvSpPr txBox="1"/>
          <p:nvPr/>
        </p:nvSpPr>
        <p:spPr>
          <a:xfrm>
            <a:off x="3584448" y="306324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Priority score + under-engaged flags lift priority-KOL reach — est. ~$1.5M / year.</a:t>
            </a: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6163056" y="1691640"/>
            <a:ext cx="269748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6163056" y="1691640"/>
            <a:ext cx="2697480" cy="109728"/>
          </a:xfrm>
          <a:prstGeom prst="roundRect">
            <a:avLst>
              <a:gd fmla="val 16667" name="adj"/>
            </a:avLst>
          </a:prstGeom>
          <a:solidFill>
            <a:srgbClr val="008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6163056" y="196596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87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Deeper</a:t>
            </a:r>
            <a:endParaRPr/>
          </a:p>
        </p:txBody>
      </p:sp>
      <p:sp>
        <p:nvSpPr>
          <p:cNvPr id="410" name="Google Shape;410;p22"/>
          <p:cNvSpPr txBox="1"/>
          <p:nvPr/>
        </p:nvSpPr>
        <p:spPr>
          <a:xfrm>
            <a:off x="6163056" y="2606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scientific insight</a:t>
            </a:r>
            <a:endParaRPr/>
          </a:p>
        </p:txBody>
      </p:sp>
      <p:sp>
        <p:nvSpPr>
          <p:cNvPr id="411" name="Google Shape;411;p22"/>
          <p:cNvSpPr txBox="1"/>
          <p:nvPr/>
        </p:nvSpPr>
        <p:spPr>
          <a:xfrm>
            <a:off x="6391656" y="306324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500+ free-text MSL notes become queryable topic-interest signal.</a:t>
            </a:r>
            <a:endParaRPr/>
          </a:p>
        </p:txBody>
      </p:sp>
      <p:sp>
        <p:nvSpPr>
          <p:cNvPr id="412" name="Google Shape;412;p22"/>
          <p:cNvSpPr/>
          <p:nvPr/>
        </p:nvSpPr>
        <p:spPr>
          <a:xfrm>
            <a:off x="8970264" y="1691640"/>
            <a:ext cx="269748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8970264" y="1691640"/>
            <a:ext cx="2697480" cy="109728"/>
          </a:xfrm>
          <a:prstGeom prst="roundRect">
            <a:avLst>
              <a:gd fmla="val 16667" name="adj"/>
            </a:avLst>
          </a:prstGeom>
          <a:solidFill>
            <a:srgbClr val="1F9D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8970264" y="196596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9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Safer</a:t>
            </a:r>
            <a:endParaRPr/>
          </a:p>
        </p:txBody>
      </p:sp>
      <p:sp>
        <p:nvSpPr>
          <p:cNvPr id="415" name="Google Shape;415;p22"/>
          <p:cNvSpPr txBox="1"/>
          <p:nvPr/>
        </p:nvSpPr>
        <p:spPr>
          <a:xfrm>
            <a:off x="8970264" y="2606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governance</a:t>
            </a:r>
            <a:endParaRPr/>
          </a:p>
        </p:txBody>
      </p:sp>
      <p:sp>
        <p:nvSpPr>
          <p:cNvPr id="416" name="Google Shape;416;p22"/>
          <p:cNvSpPr txBox="1"/>
          <p:nvPr/>
        </p:nvSpPr>
        <p:spPr>
          <a:xfrm>
            <a:off x="9198864" y="306324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Faster inquiry SLAs + approved-only content + full UC lineage — est. ~$0.6M / year.</a:t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548640" y="4251960"/>
            <a:ext cx="11091672" cy="1737360"/>
          </a:xfrm>
          <a:prstGeom prst="roundRect">
            <a:avLst>
              <a:gd fmla="val 16667" name="adj"/>
            </a:avLst>
          </a:prstGeom>
          <a:solidFill>
            <a:srgbClr val="0B1733"/>
          </a:solidFill>
          <a:ln cap="flat" cmpd="sng" w="12700">
            <a:solidFill>
              <a:srgbClr val="0B1733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EC8E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platform story</a:t>
            </a:r>
            <a:endParaRPr/>
          </a:p>
        </p:txBody>
      </p:sp>
      <p:sp>
        <p:nvSpPr>
          <p:cNvPr id="419" name="Google Shape;419;p22"/>
          <p:cNvSpPr txBox="1"/>
          <p:nvPr/>
        </p:nvSpPr>
        <p:spPr>
          <a:xfrm>
            <a:off x="914400" y="4892040"/>
            <a:ext cx="1033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governed Lakehouse — Lakeflow to Lakebase to app — delivers analytics, natural-language self-service and an AI cockpit with no data copies and one security model. Estimated ~$3.4M / year for a 120-MSL field-medical org.</a:t>
            </a:r>
            <a:endParaRPr/>
          </a:p>
        </p:txBody>
      </p:sp>
      <p:sp>
        <p:nvSpPr>
          <p:cNvPr id="420" name="Google Shape;420;p22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(synthetic)  ·  Databricks  ·  _sa701.moa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B1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77240" y="1188720"/>
            <a:ext cx="1051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822960" y="5989320"/>
            <a:ext cx="10515600" cy="17780"/>
          </a:xfrm>
          <a:prstGeom prst="rect">
            <a:avLst/>
          </a:prstGeom>
          <a:solidFill>
            <a:srgbClr val="2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822960" y="61722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E9A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 ·  Databricks Data Intelligence Platform  ·  adb-984752964297111 (Azure) · _sa701.moa  ·  synthetic demo data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36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TRUST BY DESIGN</a:t>
            </a: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for a regulated, non-promotional context</a:t>
            </a:r>
            <a:endParaRPr/>
          </a:p>
        </p:txBody>
      </p:sp>
      <p:sp>
        <p:nvSpPr>
          <p:cNvPr id="437" name="Google Shape;437;p24"/>
          <p:cNvSpPr txBox="1"/>
          <p:nvPr/>
        </p:nvSpPr>
        <p:spPr>
          <a:xfrm>
            <a:off x="11430000" y="384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438" name="Google Shape;438;p24"/>
          <p:cNvSpPr/>
          <p:nvPr/>
        </p:nvSpPr>
        <p:spPr>
          <a:xfrm>
            <a:off x="548640" y="1371600"/>
            <a:ext cx="11091672" cy="177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548640" y="1645920"/>
            <a:ext cx="3611880" cy="1874519"/>
          </a:xfrm>
          <a:prstGeom prst="roundRect">
            <a:avLst>
              <a:gd fmla="val 16667" name="adj"/>
            </a:avLst>
          </a:prstGeom>
          <a:solidFill>
            <a:srgbClr val="DEF5E7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77240" y="182880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</a:t>
            </a:r>
            <a:endParaRPr/>
          </a:p>
        </p:txBody>
      </p:sp>
      <p:sp>
        <p:nvSpPr>
          <p:cNvPr id="441" name="Google Shape;441;p24"/>
          <p:cNvSpPr txBox="1"/>
          <p:nvPr/>
        </p:nvSpPr>
        <p:spPr>
          <a:xfrm>
            <a:off x="1463040" y="187452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Human-in-the-loop</a:t>
            </a:r>
            <a:endParaRPr/>
          </a:p>
        </p:txBody>
      </p:sp>
      <p:sp>
        <p:nvSpPr>
          <p:cNvPr id="442" name="Google Shape;442;p24"/>
          <p:cNvSpPr txBox="1"/>
          <p:nvPr/>
        </p:nvSpPr>
        <p:spPr>
          <a:xfrm>
            <a:off x="804672" y="251460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AI output is a recommendation for MSL review — never an automated action or outreach.</a:t>
            </a:r>
            <a:endParaRPr/>
          </a:p>
        </p:txBody>
      </p:sp>
      <p:sp>
        <p:nvSpPr>
          <p:cNvPr id="443" name="Google Shape;443;p24"/>
          <p:cNvSpPr/>
          <p:nvPr/>
        </p:nvSpPr>
        <p:spPr>
          <a:xfrm>
            <a:off x="4288536" y="1645920"/>
            <a:ext cx="3611880" cy="1874519"/>
          </a:xfrm>
          <a:prstGeom prst="roundRect">
            <a:avLst>
              <a:gd fmla="val 16667" name="adj"/>
            </a:avLst>
          </a:prstGeom>
          <a:solidFill>
            <a:srgbClr val="E4ECF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4517136" y="182880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✅</a:t>
            </a:r>
            <a:endParaRPr/>
          </a:p>
        </p:txBody>
      </p:sp>
      <p:sp>
        <p:nvSpPr>
          <p:cNvPr id="445" name="Google Shape;445;p24"/>
          <p:cNvSpPr txBox="1"/>
          <p:nvPr/>
        </p:nvSpPr>
        <p:spPr>
          <a:xfrm>
            <a:off x="5202936" y="187452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approved content</a:t>
            </a:r>
            <a:endParaRPr/>
          </a:p>
        </p:txBody>
      </p:sp>
      <p:sp>
        <p:nvSpPr>
          <p:cNvPr id="446" name="Google Shape;446;p24"/>
          <p:cNvSpPr txBox="1"/>
          <p:nvPr/>
        </p:nvSpPr>
        <p:spPr>
          <a:xfrm>
            <a:off x="4544568" y="251460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app surfaces medically-approved assets only, each with a med_review_id, and never re-shares what an HCP already has.</a:t>
            </a:r>
            <a:endParaRPr/>
          </a:p>
        </p:txBody>
      </p:sp>
      <p:sp>
        <p:nvSpPr>
          <p:cNvPr id="447" name="Google Shape;447;p24"/>
          <p:cNvSpPr/>
          <p:nvPr/>
        </p:nvSpPr>
        <p:spPr>
          <a:xfrm>
            <a:off x="8028432" y="1645920"/>
            <a:ext cx="3611880" cy="1874519"/>
          </a:xfrm>
          <a:prstGeom prst="roundRect">
            <a:avLst>
              <a:gd fmla="val 16667" name="adj"/>
            </a:avLst>
          </a:prstGeom>
          <a:solidFill>
            <a:srgbClr val="EEE5F8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8257032" y="182880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/>
          </a:p>
        </p:txBody>
      </p:sp>
      <p:sp>
        <p:nvSpPr>
          <p:cNvPr id="449" name="Google Shape;449;p24"/>
          <p:cNvSpPr txBox="1"/>
          <p:nvPr/>
        </p:nvSpPr>
        <p:spPr>
          <a:xfrm>
            <a:off x="8942832" y="187452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Catalog governance</a:t>
            </a:r>
            <a:endParaRPr/>
          </a:p>
        </p:txBody>
      </p:sp>
      <p:sp>
        <p:nvSpPr>
          <p:cNvPr id="450" name="Google Shape;450;p24"/>
          <p:cNvSpPr txBox="1"/>
          <p:nvPr/>
        </p:nvSpPr>
        <p:spPr>
          <a:xfrm>
            <a:off x="8284464" y="251460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permission &amp; lineage model across tables, metrics, Genie, dashboard, Lakebase and the app — auditable end to end; enforced UC tag policies, npi classified PII.</a:t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548640" y="3703319"/>
            <a:ext cx="3611880" cy="1874519"/>
          </a:xfrm>
          <a:prstGeom prst="roundRect">
            <a:avLst>
              <a:gd fmla="val 16667" name="adj"/>
            </a:avLst>
          </a:prstGeom>
          <a:solidFill>
            <a:srgbClr val="FFF3DF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 txBox="1"/>
          <p:nvPr/>
        </p:nvSpPr>
        <p:spPr>
          <a:xfrm>
            <a:off x="777240" y="3886199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📎</a:t>
            </a:r>
            <a:endParaRPr/>
          </a:p>
        </p:txBody>
      </p:sp>
      <p:sp>
        <p:nvSpPr>
          <p:cNvPr id="453" name="Google Shape;453;p24"/>
          <p:cNvSpPr txBox="1"/>
          <p:nvPr/>
        </p:nvSpPr>
        <p:spPr>
          <a:xfrm>
            <a:off x="1463040" y="3931919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Grounded, non-promotional</a:t>
            </a:r>
            <a:endParaRPr/>
          </a:p>
        </p:txBody>
      </p:sp>
      <p:sp>
        <p:nvSpPr>
          <p:cNvPr id="454" name="Google Shape;454;p24"/>
          <p:cNvSpPr txBox="1"/>
          <p:nvPr/>
        </p:nvSpPr>
        <p:spPr>
          <a:xfrm>
            <a:off x="804672" y="4571999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Briefings are grounded ONLY in the HCP's structured context; prompt enforces factual, evidence-based, non-promotional tone.</a:t>
            </a: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4288536" y="3703319"/>
            <a:ext cx="3611880" cy="1874519"/>
          </a:xfrm>
          <a:prstGeom prst="roundRect">
            <a:avLst>
              <a:gd fmla="val 16667" name="adj"/>
            </a:avLst>
          </a:prstGeom>
          <a:solidFill>
            <a:srgbClr val="D6F0F0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 txBox="1"/>
          <p:nvPr/>
        </p:nvSpPr>
        <p:spPr>
          <a:xfrm>
            <a:off x="4517136" y="3886199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🧪</a:t>
            </a:r>
            <a:endParaRPr/>
          </a:p>
        </p:txBody>
      </p:sp>
      <p:sp>
        <p:nvSpPr>
          <p:cNvPr id="457" name="Google Shape;457;p24"/>
          <p:cNvSpPr txBox="1"/>
          <p:nvPr/>
        </p:nvSpPr>
        <p:spPr>
          <a:xfrm>
            <a:off x="5202936" y="3931919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Synthetic data</a:t>
            </a:r>
            <a:endParaRPr/>
          </a:p>
        </p:txBody>
      </p:sp>
      <p:sp>
        <p:nvSpPr>
          <p:cNvPr id="458" name="Google Shape;458;p24"/>
          <p:cNvSpPr txBox="1"/>
          <p:nvPr/>
        </p:nvSpPr>
        <p:spPr>
          <a:xfrm>
            <a:off x="4544568" y="4571999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entire demo runs on synthetic data — safe to show, no PII, no real patient or HCP information.</a:t>
            </a:r>
            <a:endParaRPr/>
          </a:p>
        </p:txBody>
      </p:sp>
      <p:sp>
        <p:nvSpPr>
          <p:cNvPr id="459" name="Google Shape;459;p24"/>
          <p:cNvSpPr/>
          <p:nvPr/>
        </p:nvSpPr>
        <p:spPr>
          <a:xfrm>
            <a:off x="8028432" y="3703319"/>
            <a:ext cx="3611880" cy="1874519"/>
          </a:xfrm>
          <a:prstGeom prst="roundRect">
            <a:avLst>
              <a:gd fmla="val 16667" name="adj"/>
            </a:avLst>
          </a:prstGeom>
          <a:solidFill>
            <a:srgbClr val="F4F6F9"/>
          </a:solidFill>
          <a:ln cap="flat" cmpd="sng" w="12700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40000">
              <a:srgbClr val="9AA5B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 txBox="1"/>
          <p:nvPr/>
        </p:nvSpPr>
        <p:spPr>
          <a:xfrm>
            <a:off x="8257032" y="3886199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461" name="Google Shape;461;p24"/>
          <p:cNvSpPr txBox="1"/>
          <p:nvPr/>
        </p:nvSpPr>
        <p:spPr>
          <a:xfrm>
            <a:off x="8942832" y="3931919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17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source of truth</a:t>
            </a:r>
            <a:endParaRPr/>
          </a:p>
        </p:txBody>
      </p:sp>
      <p:sp>
        <p:nvSpPr>
          <p:cNvPr id="462" name="Google Shape;462;p24"/>
          <p:cNvSpPr txBox="1"/>
          <p:nvPr/>
        </p:nvSpPr>
        <p:spPr>
          <a:xfrm>
            <a:off x="8284464" y="4571999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Governed metric views mean the same KPI definition powers every surface — no conflicting numbers.</a:t>
            </a:r>
            <a:endParaRPr/>
          </a:p>
        </p:txBody>
      </p:sp>
      <p:sp>
        <p:nvSpPr>
          <p:cNvPr id="463" name="Google Shape;463;p24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09A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(synthetic)  ·  Databricks  ·  _sa701.moa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B1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0" y="0"/>
            <a:ext cx="255900" cy="68580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5"/>
          <p:cNvSpPr txBox="1"/>
          <p:nvPr/>
        </p:nvSpPr>
        <p:spPr>
          <a:xfrm>
            <a:off x="822960" y="777240"/>
            <a:ext cx="10058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EC8E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 FLOW</a:t>
            </a:r>
            <a:endParaRPr/>
          </a:p>
        </p:txBody>
      </p:sp>
      <p:sp>
        <p:nvSpPr>
          <p:cNvPr id="471" name="Google Shape;471;p25"/>
          <p:cNvSpPr txBox="1"/>
          <p:nvPr/>
        </p:nvSpPr>
        <p:spPr>
          <a:xfrm>
            <a:off x="777240" y="1188720"/>
            <a:ext cx="1051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Suggested walk-through</a:t>
            </a:r>
            <a:endParaRPr/>
          </a:p>
        </p:txBody>
      </p:sp>
      <p:sp>
        <p:nvSpPr>
          <p:cNvPr id="472" name="Google Shape;472;p25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 txBox="1"/>
          <p:nvPr/>
        </p:nvSpPr>
        <p:spPr>
          <a:xfrm>
            <a:off x="822960" y="2286000"/>
            <a:ext cx="68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474" name="Google Shape;474;p25"/>
          <p:cNvSpPr txBox="1"/>
          <p:nvPr/>
        </p:nvSpPr>
        <p:spPr>
          <a:xfrm>
            <a:off x="1737360" y="230428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Genie</a:t>
            </a:r>
            <a:endParaRPr/>
          </a:p>
        </p:txBody>
      </p:sp>
      <p:sp>
        <p:nvSpPr>
          <p:cNvPr id="475" name="Google Shape;475;p25"/>
          <p:cNvSpPr txBox="1"/>
          <p:nvPr/>
        </p:nvSpPr>
        <p:spPr>
          <a:xfrm>
            <a:off x="4297680" y="2304288"/>
            <a:ext cx="713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4CED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Ask 2–3 English questions → show governed SQL &amp; instant answers.</a:t>
            </a:r>
            <a:endParaRPr/>
          </a:p>
        </p:txBody>
      </p:sp>
      <p:sp>
        <p:nvSpPr>
          <p:cNvPr id="476" name="Google Shape;476;p25"/>
          <p:cNvSpPr/>
          <p:nvPr/>
        </p:nvSpPr>
        <p:spPr>
          <a:xfrm>
            <a:off x="822960" y="3154680"/>
            <a:ext cx="685800" cy="685800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822960" y="3154680"/>
            <a:ext cx="68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478" name="Google Shape;478;p25"/>
          <p:cNvSpPr txBox="1"/>
          <p:nvPr/>
        </p:nvSpPr>
        <p:spPr>
          <a:xfrm>
            <a:off x="1737360" y="317296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</a:t>
            </a:r>
            <a:endParaRPr/>
          </a:p>
        </p:txBody>
      </p:sp>
      <p:sp>
        <p:nvSpPr>
          <p:cNvPr id="479" name="Google Shape;479;p25"/>
          <p:cNvSpPr txBox="1"/>
          <p:nvPr/>
        </p:nvSpPr>
        <p:spPr>
          <a:xfrm>
            <a:off x="4297680" y="3172968"/>
            <a:ext cx="713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4CED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 the omnichannel view → engagement, priority, topic interest, SLAs.</a:t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822960" y="4023360"/>
            <a:ext cx="685800" cy="685800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 txBox="1"/>
          <p:nvPr/>
        </p:nvSpPr>
        <p:spPr>
          <a:xfrm>
            <a:off x="822960" y="4023360"/>
            <a:ext cx="68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482" name="Google Shape;482;p25"/>
          <p:cNvSpPr txBox="1"/>
          <p:nvPr/>
        </p:nvSpPr>
        <p:spPr>
          <a:xfrm>
            <a:off x="1737360" y="404164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Copilot app</a:t>
            </a:r>
            <a:endParaRPr/>
          </a:p>
        </p:txBody>
      </p:sp>
      <p:sp>
        <p:nvSpPr>
          <p:cNvPr id="483" name="Google Shape;483;p25"/>
          <p:cNvSpPr txBox="1"/>
          <p:nvPr/>
        </p:nvSpPr>
        <p:spPr>
          <a:xfrm>
            <a:off x="4297680" y="4041648"/>
            <a:ext cx="713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4CED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Pick a high-priority KOL → 360 → AI briefing → plan + approved content → log decision to Lakebase.</a:t>
            </a: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 txBox="1"/>
          <p:nvPr/>
        </p:nvSpPr>
        <p:spPr>
          <a:xfrm>
            <a:off x="822960" y="4892040"/>
            <a:ext cx="68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486" name="Google Shape;486;p25"/>
          <p:cNvSpPr txBox="1"/>
          <p:nvPr/>
        </p:nvSpPr>
        <p:spPr>
          <a:xfrm>
            <a:off x="1737360" y="491032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Governance</a:t>
            </a:r>
            <a:endParaRPr/>
          </a:p>
        </p:txBody>
      </p:sp>
      <p:sp>
        <p:nvSpPr>
          <p:cNvPr id="487" name="Google Shape;487;p25"/>
          <p:cNvSpPr txBox="1"/>
          <p:nvPr/>
        </p:nvSpPr>
        <p:spPr>
          <a:xfrm>
            <a:off x="4297680" y="4910328"/>
            <a:ext cx="713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4CED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Point back to Unity Catalog lineage &amp; the 'requires MSL review' guardrail.</a:t>
            </a:r>
            <a:endParaRPr/>
          </a:p>
        </p:txBody>
      </p:sp>
      <p:sp>
        <p:nvSpPr>
          <p:cNvPr id="488" name="Google Shape;488;p25"/>
          <p:cNvSpPr/>
          <p:nvPr/>
        </p:nvSpPr>
        <p:spPr>
          <a:xfrm>
            <a:off x="822960" y="5989320"/>
            <a:ext cx="10515600" cy="17700"/>
          </a:xfrm>
          <a:prstGeom prst="rect">
            <a:avLst/>
          </a:prstGeom>
          <a:solidFill>
            <a:srgbClr val="2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5"/>
          <p:cNvSpPr txBox="1"/>
          <p:nvPr/>
        </p:nvSpPr>
        <p:spPr>
          <a:xfrm>
            <a:off x="822960" y="6172200"/>
            <a:ext cx="10607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E9A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Omnichannel Intelligence  ·  Daiichi Sankyo  ·  Databricks Data Intelligence Platform  ·  adb-984752964297111 (Azure) · _sa701.moa  ·  synthetic demo data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